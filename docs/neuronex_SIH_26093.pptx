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rial Bold" charset="1" panose="020B0704020202020204"/>
      <p:regular r:id="rId12"/>
    </p:embeddedFont>
    <p:embeddedFont>
      <p:font typeface="Arial" charset="1" panose="020B0604020202020204"/>
      <p:regular r:id="rId13"/>
    </p:embeddedFont>
    <p:embeddedFont>
      <p:font typeface="Times New Roman Bold" charset="1" panose="02020803070505020304"/>
      <p:regular r:id="rId14"/>
    </p:embeddedFont>
    <p:embeddedFont>
      <p:font typeface="IBM Plex Sans Bold" charset="1" panose="020B0803050203000203"/>
      <p:regular r:id="rId15"/>
    </p:embeddedFont>
    <p:embeddedFont>
      <p:font typeface="IBM Plex Sans" charset="1" panose="020B0503050203000203"/>
      <p:regular r:id="rId16"/>
    </p:embeddedFont>
    <p:embeddedFont>
      <p:font typeface="Calibri (MS)" charset="1" panose="020F0502020204030204"/>
      <p:regular r:id="rId17"/>
    </p:embeddedFont>
    <p:embeddedFont>
      <p:font typeface="Cambria" charset="1" panose="02040503050406030204"/>
      <p:regular r:id="rId18"/>
    </p:embeddedFont>
    <p:embeddedFont>
      <p:font typeface="Times New Roman" charset="1" panose="02020603050405020304"/>
      <p:regular r:id="rId19"/>
    </p:embeddedFont>
    <p:embeddedFont>
      <p:font typeface="Arial Bold Italics" charset="1" panose="020B0704020202090204"/>
      <p:regular r:id="rId20"/>
    </p:embeddedFont>
    <p:embeddedFont>
      <p:font typeface="Arial Italics" charset="1" panose="020B060402020209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13" Target="../media/image19.png" Type="http://schemas.openxmlformats.org/officeDocument/2006/relationships/image"/><Relationship Id="rId14" Target="../media/image20.png" Type="http://schemas.openxmlformats.org/officeDocument/2006/relationships/image"/><Relationship Id="rId15" Target="../media/image21.png" Type="http://schemas.openxmlformats.org/officeDocument/2006/relationships/image"/><Relationship Id="rId16" Target="../media/image22.png" Type="http://schemas.openxmlformats.org/officeDocument/2006/relationships/image"/><Relationship Id="rId17" Target="../media/image23.png" Type="http://schemas.openxmlformats.org/officeDocument/2006/relationships/image"/><Relationship Id="rId18" Target="../media/image24.jpeg" Type="http://schemas.openxmlformats.org/officeDocument/2006/relationships/image"/><Relationship Id="rId19" Target="../media/image25.jpeg" Type="http://schemas.openxmlformats.org/officeDocument/2006/relationships/image"/><Relationship Id="rId2" Target="../media/image8.png" Type="http://schemas.openxmlformats.org/officeDocument/2006/relationships/image"/><Relationship Id="rId20" Target="../media/image4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Relationship Id="rId3" Target="../media/image27.jpeg" Type="http://schemas.openxmlformats.org/officeDocument/2006/relationships/image"/><Relationship Id="rId4" Target="../media/image28.png" Type="http://schemas.openxmlformats.org/officeDocument/2006/relationships/image"/><Relationship Id="rId5" Target="../media/image25.jpeg" Type="http://schemas.openxmlformats.org/officeDocument/2006/relationships/image"/><Relationship Id="rId6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png" Type="http://schemas.openxmlformats.org/officeDocument/2006/relationships/image"/><Relationship Id="rId12" Target="../media/image39.svg" Type="http://schemas.openxmlformats.org/officeDocument/2006/relationships/image"/><Relationship Id="rId13" Target="../media/image40.png" Type="http://schemas.openxmlformats.org/officeDocument/2006/relationships/image"/><Relationship Id="rId14" Target="../media/image41.png" Type="http://schemas.openxmlformats.org/officeDocument/2006/relationships/image"/><Relationship Id="rId15" Target="../media/image42.svg" Type="http://schemas.openxmlformats.org/officeDocument/2006/relationships/image"/><Relationship Id="rId16" Target="../media/image43.png" Type="http://schemas.openxmlformats.org/officeDocument/2006/relationships/image"/><Relationship Id="rId17" Target="../media/image44.svg" Type="http://schemas.openxmlformats.org/officeDocument/2006/relationships/image"/><Relationship Id="rId18" Target="../media/image45.png" Type="http://schemas.openxmlformats.org/officeDocument/2006/relationships/image"/><Relationship Id="rId19" Target="../media/image46.svg" Type="http://schemas.openxmlformats.org/officeDocument/2006/relationships/image"/><Relationship Id="rId2" Target="../media/image29.png" Type="http://schemas.openxmlformats.org/officeDocument/2006/relationships/image"/><Relationship Id="rId20" Target="../media/image47.png" Type="http://schemas.openxmlformats.org/officeDocument/2006/relationships/image"/><Relationship Id="rId21" Target="../media/image48.svg" Type="http://schemas.openxmlformats.org/officeDocument/2006/relationships/image"/><Relationship Id="rId22" Target="../media/image49.png" Type="http://schemas.openxmlformats.org/officeDocument/2006/relationships/image"/><Relationship Id="rId23" Target="../media/image50.svg" Type="http://schemas.openxmlformats.org/officeDocument/2006/relationships/image"/><Relationship Id="rId24" Target="../media/image51.png" Type="http://schemas.openxmlformats.org/officeDocument/2006/relationships/image"/><Relationship Id="rId25" Target="../media/image52.png" Type="http://schemas.openxmlformats.org/officeDocument/2006/relationships/image"/><Relationship Id="rId26" Target="../media/image53.svg" Type="http://schemas.openxmlformats.org/officeDocument/2006/relationships/image"/><Relationship Id="rId27" Target="../media/image54.png" Type="http://schemas.openxmlformats.org/officeDocument/2006/relationships/image"/><Relationship Id="rId28" Target="../media/image55.svg" Type="http://schemas.openxmlformats.org/officeDocument/2006/relationships/image"/><Relationship Id="rId29" Target="../media/image56.png" Type="http://schemas.openxmlformats.org/officeDocument/2006/relationships/image"/><Relationship Id="rId3" Target="../media/image30.png" Type="http://schemas.openxmlformats.org/officeDocument/2006/relationships/image"/><Relationship Id="rId30" Target="../media/image57.png" Type="http://schemas.openxmlformats.org/officeDocument/2006/relationships/image"/><Relationship Id="rId31" Target="../media/image58.png" Type="http://schemas.openxmlformats.org/officeDocument/2006/relationships/image"/><Relationship Id="rId32" Target="../media/image59.png" Type="http://schemas.openxmlformats.org/officeDocument/2006/relationships/image"/><Relationship Id="rId33" Target="../media/image60.svg" Type="http://schemas.openxmlformats.org/officeDocument/2006/relationships/image"/><Relationship Id="rId34" Target="../media/image61.png" Type="http://schemas.openxmlformats.org/officeDocument/2006/relationships/image"/><Relationship Id="rId35" Target="../media/image62.svg" Type="http://schemas.openxmlformats.org/officeDocument/2006/relationships/image"/><Relationship Id="rId36" Target="../media/image63.png" Type="http://schemas.openxmlformats.org/officeDocument/2006/relationships/image"/><Relationship Id="rId37" Target="../media/image64.svg" Type="http://schemas.openxmlformats.org/officeDocument/2006/relationships/image"/><Relationship Id="rId38" Target="../media/image65.png" Type="http://schemas.openxmlformats.org/officeDocument/2006/relationships/image"/><Relationship Id="rId39" Target="../media/image66.svg" Type="http://schemas.openxmlformats.org/officeDocument/2006/relationships/image"/><Relationship Id="rId4" Target="../media/image31.svg" Type="http://schemas.openxmlformats.org/officeDocument/2006/relationships/image"/><Relationship Id="rId40" Target="../media/image67.png" Type="http://schemas.openxmlformats.org/officeDocument/2006/relationships/image"/><Relationship Id="rId41" Target="../media/image68.svg" Type="http://schemas.openxmlformats.org/officeDocument/2006/relationships/image"/><Relationship Id="rId42" Target="../media/image69.png" Type="http://schemas.openxmlformats.org/officeDocument/2006/relationships/image"/><Relationship Id="rId43" Target="../media/image25.jpeg" Type="http://schemas.openxmlformats.org/officeDocument/2006/relationships/image"/><Relationship Id="rId44" Target="../media/image4.pn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34.png" Type="http://schemas.openxmlformats.org/officeDocument/2006/relationships/image"/><Relationship Id="rId8" Target="../media/image35.pn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8.svg" Type="http://schemas.openxmlformats.org/officeDocument/2006/relationships/image"/><Relationship Id="rId11" Target="../media/image79.png" Type="http://schemas.openxmlformats.org/officeDocument/2006/relationships/image"/><Relationship Id="rId12" Target="../media/image80.svg" Type="http://schemas.openxmlformats.org/officeDocument/2006/relationships/image"/><Relationship Id="rId13" Target="../media/image81.png" Type="http://schemas.openxmlformats.org/officeDocument/2006/relationships/image"/><Relationship Id="rId14" Target="../media/image82.svg" Type="http://schemas.openxmlformats.org/officeDocument/2006/relationships/image"/><Relationship Id="rId15" Target="../media/image83.png" Type="http://schemas.openxmlformats.org/officeDocument/2006/relationships/image"/><Relationship Id="rId16" Target="../media/image84.svg" Type="http://schemas.openxmlformats.org/officeDocument/2006/relationships/image"/><Relationship Id="rId17" Target="../media/image85.png" Type="http://schemas.openxmlformats.org/officeDocument/2006/relationships/image"/><Relationship Id="rId18" Target="../media/image86.png" Type="http://schemas.openxmlformats.org/officeDocument/2006/relationships/image"/><Relationship Id="rId19" Target="../media/image87.png" Type="http://schemas.openxmlformats.org/officeDocument/2006/relationships/image"/><Relationship Id="rId2" Target="../media/image70.png" Type="http://schemas.openxmlformats.org/officeDocument/2006/relationships/image"/><Relationship Id="rId20" Target="../media/image88.svg" Type="http://schemas.openxmlformats.org/officeDocument/2006/relationships/image"/><Relationship Id="rId21" Target="../media/image89.png" Type="http://schemas.openxmlformats.org/officeDocument/2006/relationships/image"/><Relationship Id="rId22" Target="../media/image90.svg" Type="http://schemas.openxmlformats.org/officeDocument/2006/relationships/image"/><Relationship Id="rId23" Target="../media/image91.png" Type="http://schemas.openxmlformats.org/officeDocument/2006/relationships/image"/><Relationship Id="rId24" Target="../media/image92.svg" Type="http://schemas.openxmlformats.org/officeDocument/2006/relationships/image"/><Relationship Id="rId25" Target="../media/image93.png" Type="http://schemas.openxmlformats.org/officeDocument/2006/relationships/image"/><Relationship Id="rId26" Target="../media/image94.svg" Type="http://schemas.openxmlformats.org/officeDocument/2006/relationships/image"/><Relationship Id="rId27" Target="../media/image95.png" Type="http://schemas.openxmlformats.org/officeDocument/2006/relationships/image"/><Relationship Id="rId28" Target="../media/image96.png" Type="http://schemas.openxmlformats.org/officeDocument/2006/relationships/image"/><Relationship Id="rId29" Target="../media/image97.png" Type="http://schemas.openxmlformats.org/officeDocument/2006/relationships/image"/><Relationship Id="rId3" Target="../media/image71.svg" Type="http://schemas.openxmlformats.org/officeDocument/2006/relationships/image"/><Relationship Id="rId30" Target="../media/image98.png" Type="http://schemas.openxmlformats.org/officeDocument/2006/relationships/image"/><Relationship Id="rId31" Target="../media/image99.png" Type="http://schemas.openxmlformats.org/officeDocument/2006/relationships/image"/><Relationship Id="rId32" Target="../media/image100.png" Type="http://schemas.openxmlformats.org/officeDocument/2006/relationships/image"/><Relationship Id="rId33" Target="../media/image101.png" Type="http://schemas.openxmlformats.org/officeDocument/2006/relationships/image"/><Relationship Id="rId34" Target="../media/image102.png" Type="http://schemas.openxmlformats.org/officeDocument/2006/relationships/image"/><Relationship Id="rId35" Target="../media/image103.png" Type="http://schemas.openxmlformats.org/officeDocument/2006/relationships/image"/><Relationship Id="rId36" Target="../media/image104.png" Type="http://schemas.openxmlformats.org/officeDocument/2006/relationships/image"/><Relationship Id="rId37" Target="../media/image105.png" Type="http://schemas.openxmlformats.org/officeDocument/2006/relationships/image"/><Relationship Id="rId38" Target="../media/image106.png" Type="http://schemas.openxmlformats.org/officeDocument/2006/relationships/image"/><Relationship Id="rId39" Target="../media/image107.png" Type="http://schemas.openxmlformats.org/officeDocument/2006/relationships/image"/><Relationship Id="rId4" Target="../media/image72.png" Type="http://schemas.openxmlformats.org/officeDocument/2006/relationships/image"/><Relationship Id="rId40" Target="../media/image108.png" Type="http://schemas.openxmlformats.org/officeDocument/2006/relationships/image"/><Relationship Id="rId41" Target="../media/image25.jpeg" Type="http://schemas.openxmlformats.org/officeDocument/2006/relationships/image"/><Relationship Id="rId42" Target="../media/image4.png" Type="http://schemas.openxmlformats.org/officeDocument/2006/relationships/image"/><Relationship Id="rId43" Target="../media/image109.png" Type="http://schemas.openxmlformats.org/officeDocument/2006/relationships/image"/><Relationship Id="rId5" Target="../media/image73.png" Type="http://schemas.openxmlformats.org/officeDocument/2006/relationships/image"/><Relationship Id="rId6" Target="../media/image74.png" Type="http://schemas.openxmlformats.org/officeDocument/2006/relationships/image"/><Relationship Id="rId7" Target="../media/image75.svg" Type="http://schemas.openxmlformats.org/officeDocument/2006/relationships/image"/><Relationship Id="rId8" Target="../media/image76.png" Type="http://schemas.openxmlformats.org/officeDocument/2006/relationships/image"/><Relationship Id="rId9" Target="../media/image7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://pib.gov.in" TargetMode="External" Type="http://schemas.openxmlformats.org/officeDocument/2006/relationships/hyperlink"/><Relationship Id="rId11" Target="http://socialjustice.gov.in" TargetMode="External" Type="http://schemas.openxmlformats.org/officeDocument/2006/relationships/hyperlink"/><Relationship Id="rId12" Target="https://www.sih.gov.in/sih2026PS" TargetMode="External" Type="http://schemas.openxmlformats.org/officeDocument/2006/relationships/hyperlink"/><Relationship Id="rId13" Target="http://dghs.mohfw.gov.in" TargetMode="External" Type="http://schemas.openxmlformats.org/officeDocument/2006/relationships/hyperlink"/><Relationship Id="rId14" Target="http://qps.nhsrcindia.org" TargetMode="External" Type="http://schemas.openxmlformats.org/officeDocument/2006/relationships/hyperlink"/><Relationship Id="rId15" Target="http://meity.gov.in" TargetMode="External" Type="http://schemas.openxmlformats.org/officeDocument/2006/relationships/hyperlink"/><Relationship Id="rId16" Target="http://models.ai4bharat.org" TargetMode="External" Type="http://schemas.openxmlformats.org/officeDocument/2006/relationships/hyperlink"/><Relationship Id="rId17" Target="http://zenodo.org/records/1188976" TargetMode="External" Type="http://schemas.openxmlformats.org/officeDocument/2006/relationships/hyperlink"/><Relationship Id="rId18" Target="http://github.com/CheyneyComputerScience/CREMA-D" TargetMode="External" Type="http://schemas.openxmlformats.org/officeDocument/2006/relationships/hyperlink"/><Relationship Id="rId19" Target="http://github.com/google-research/google-research" TargetMode="External" Type="http://schemas.openxmlformats.org/officeDocument/2006/relationships/hyperlink"/><Relationship Id="rId2" Target="../media/image25.jpeg" Type="http://schemas.openxmlformats.org/officeDocument/2006/relationships/image"/><Relationship Id="rId3" Target="../media/image110.png" Type="http://schemas.openxmlformats.org/officeDocument/2006/relationships/image"/><Relationship Id="rId4" Target="../media/image111.svg" Type="http://schemas.openxmlformats.org/officeDocument/2006/relationships/image"/><Relationship Id="rId5" Target="../media/image4.png" Type="http://schemas.openxmlformats.org/officeDocument/2006/relationships/image"/><Relationship Id="rId6" Target="../media/image112.png" Type="http://schemas.openxmlformats.org/officeDocument/2006/relationships/image"/><Relationship Id="rId7" Target="../media/image113.png" Type="http://schemas.openxmlformats.org/officeDocument/2006/relationships/image"/><Relationship Id="rId8" Target="../media/image114.png" Type="http://schemas.openxmlformats.org/officeDocument/2006/relationships/image"/><Relationship Id="rId9" Target="http://nhapoa.gov.in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55062" y="1890274"/>
            <a:ext cx="6965709" cy="7734300"/>
          </a:xfrm>
          <a:custGeom>
            <a:avLst/>
            <a:gdLst/>
            <a:ahLst/>
            <a:cxnLst/>
            <a:rect r="r" b="b" t="t" l="l"/>
            <a:pathLst>
              <a:path h="7734300" w="6965709">
                <a:moveTo>
                  <a:pt x="0" y="0"/>
                </a:moveTo>
                <a:lnTo>
                  <a:pt x="6965709" y="0"/>
                </a:lnTo>
                <a:lnTo>
                  <a:pt x="6965709" y="7734300"/>
                </a:lnTo>
                <a:lnTo>
                  <a:pt x="0" y="7734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3761" y="2854817"/>
            <a:ext cx="114939" cy="114939"/>
            <a:chOff x="0" y="0"/>
            <a:chExt cx="172136" cy="1721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2085" cy="172085"/>
            </a:xfrm>
            <a:custGeom>
              <a:avLst/>
              <a:gdLst/>
              <a:ahLst/>
              <a:cxnLst/>
              <a:rect r="r" b="b" t="t" l="l"/>
              <a:pathLst>
                <a:path h="172085" w="172085">
                  <a:moveTo>
                    <a:pt x="0" y="0"/>
                  </a:moveTo>
                  <a:lnTo>
                    <a:pt x="172085" y="0"/>
                  </a:lnTo>
                  <a:lnTo>
                    <a:pt x="172085" y="172085"/>
                  </a:lnTo>
                  <a:lnTo>
                    <a:pt x="0" y="172085"/>
                  </a:lnTo>
                  <a:close/>
                </a:path>
              </a:pathLst>
            </a:custGeom>
            <a:blipFill>
              <a:blip r:embed="rId4"/>
              <a:stretch>
                <a:fillRect l="0" t="0" r="-29" b="-29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64600" y="2544164"/>
            <a:ext cx="10652465" cy="5901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b="true" sz="3600" spc="6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</a:t>
            </a:r>
            <a:r>
              <a:rPr lang="en-US" sz="3600" spc="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SIH26093</a:t>
            </a:r>
            <a:r>
              <a:rPr lang="en-US" b="true" sz="3600" spc="6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  <a:p>
            <a:pPr algn="l">
              <a:lnSpc>
                <a:spcPts val="4799"/>
              </a:lnSpc>
            </a:pPr>
            <a:r>
              <a:rPr lang="en-US" b="true" sz="3600" spc="6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 – </a:t>
            </a:r>
            <a:r>
              <a:rPr lang="en-US" sz="3600" spc="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AI-Based Real-Time Stress and Trauma Assessment Module for Victims/Complainants Accessing NHAA (14566) and Integrated Portal</a:t>
            </a:r>
          </a:p>
          <a:p>
            <a:pPr algn="l">
              <a:lnSpc>
                <a:spcPts val="5699"/>
              </a:lnSpc>
            </a:pPr>
            <a:r>
              <a:rPr lang="en-US" b="true" sz="3600" spc="6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 –  </a:t>
            </a:r>
            <a:r>
              <a:rPr lang="en-US" sz="3600" spc="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MedTech/BioTech/HealthTech</a:t>
            </a:r>
          </a:p>
          <a:p>
            <a:pPr algn="l">
              <a:lnSpc>
                <a:spcPts val="6000"/>
              </a:lnSpc>
            </a:pPr>
            <a:r>
              <a:rPr lang="en-US" b="true" sz="3800" spc="6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 – </a:t>
            </a:r>
            <a:r>
              <a:rPr lang="en-US" sz="3800" spc="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  <a:r>
              <a:rPr lang="en-US" b="true" sz="3800" spc="6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  <a:p>
            <a:pPr algn="l">
              <a:lnSpc>
                <a:spcPts val="6000"/>
              </a:lnSpc>
            </a:pPr>
            <a:r>
              <a:rPr lang="en-US" b="true" sz="3800" spc="6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 – </a:t>
            </a:r>
          </a:p>
          <a:p>
            <a:pPr algn="l">
              <a:lnSpc>
                <a:spcPts val="5699"/>
              </a:lnSpc>
            </a:pPr>
            <a:r>
              <a:rPr lang="en-US" b="true" sz="3600" spc="6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– </a:t>
            </a:r>
            <a:r>
              <a:rPr lang="en-US" sz="3600" spc="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NeuroNex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0947" y="357654"/>
            <a:ext cx="12490752" cy="117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13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SMART INDIA HACKATHON 2026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996842" y="1274988"/>
            <a:ext cx="2014147" cy="105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54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EPAG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749502" y="-6353"/>
            <a:ext cx="2375183" cy="1127503"/>
            <a:chOff x="0" y="0"/>
            <a:chExt cx="3166910" cy="15033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66872" cy="1503299"/>
            </a:xfrm>
            <a:custGeom>
              <a:avLst/>
              <a:gdLst/>
              <a:ahLst/>
              <a:cxnLst/>
              <a:rect r="r" b="b" t="t" l="l"/>
              <a:pathLst>
                <a:path h="1503299" w="3166872">
                  <a:moveTo>
                    <a:pt x="0" y="0"/>
                  </a:moveTo>
                  <a:lnTo>
                    <a:pt x="3166872" y="0"/>
                  </a:lnTo>
                  <a:lnTo>
                    <a:pt x="3166872" y="1503299"/>
                  </a:lnTo>
                  <a:lnTo>
                    <a:pt x="0" y="1503299"/>
                  </a:lnTo>
                  <a:close/>
                </a:path>
              </a:pathLst>
            </a:custGeom>
            <a:blipFill>
              <a:blip r:embed="rId5"/>
              <a:stretch>
                <a:fillRect l="-291" t="0" r="-292" b="-2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2449385" y="2559663"/>
            <a:ext cx="4651305" cy="5167665"/>
          </a:xfrm>
          <a:custGeom>
            <a:avLst/>
            <a:gdLst/>
            <a:ahLst/>
            <a:cxnLst/>
            <a:rect r="r" b="b" t="t" l="l"/>
            <a:pathLst>
              <a:path h="5167665" w="4651305">
                <a:moveTo>
                  <a:pt x="0" y="0"/>
                </a:moveTo>
                <a:lnTo>
                  <a:pt x="4651305" y="0"/>
                </a:lnTo>
                <a:lnTo>
                  <a:pt x="4651305" y="5167665"/>
                </a:lnTo>
                <a:lnTo>
                  <a:pt x="0" y="516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3714971" y="3295640"/>
            <a:ext cx="3216212" cy="3438935"/>
            <a:chOff x="0" y="0"/>
            <a:chExt cx="4288282" cy="4585246"/>
          </a:xfrm>
        </p:grpSpPr>
        <p:sp>
          <p:nvSpPr>
            <p:cNvPr name="Freeform 12" id="12" descr="Picture 4"/>
            <p:cNvSpPr/>
            <p:nvPr/>
          </p:nvSpPr>
          <p:spPr>
            <a:xfrm flipH="false" flipV="false" rot="0">
              <a:off x="0" y="0"/>
              <a:ext cx="4288282" cy="4585208"/>
            </a:xfrm>
            <a:custGeom>
              <a:avLst/>
              <a:gdLst/>
              <a:ahLst/>
              <a:cxnLst/>
              <a:rect r="r" b="b" t="t" l="l"/>
              <a:pathLst>
                <a:path h="4585208" w="4288282">
                  <a:moveTo>
                    <a:pt x="0" y="0"/>
                  </a:moveTo>
                  <a:lnTo>
                    <a:pt x="4288282" y="0"/>
                  </a:lnTo>
                  <a:lnTo>
                    <a:pt x="4288282" y="4585208"/>
                  </a:lnTo>
                  <a:lnTo>
                    <a:pt x="0" y="4585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49476" b="-2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49928" y="3445367"/>
            <a:ext cx="129102" cy="129102"/>
            <a:chOff x="0" y="0"/>
            <a:chExt cx="172136" cy="1721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2085" cy="172085"/>
            </a:xfrm>
            <a:custGeom>
              <a:avLst/>
              <a:gdLst/>
              <a:ahLst/>
              <a:cxnLst/>
              <a:rect r="r" b="b" t="t" l="l"/>
              <a:pathLst>
                <a:path h="172085" w="172085">
                  <a:moveTo>
                    <a:pt x="0" y="0"/>
                  </a:moveTo>
                  <a:lnTo>
                    <a:pt x="172085" y="0"/>
                  </a:lnTo>
                  <a:lnTo>
                    <a:pt x="172085" y="172085"/>
                  </a:lnTo>
                  <a:lnTo>
                    <a:pt x="0" y="172085"/>
                  </a:lnTo>
                  <a:close/>
                </a:path>
              </a:pathLst>
            </a:custGeom>
            <a:blipFill>
              <a:blip r:embed="rId4"/>
              <a:stretch>
                <a:fillRect l="0" t="0" r="-29" b="-29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99598" y="5872048"/>
            <a:ext cx="129102" cy="129102"/>
            <a:chOff x="0" y="0"/>
            <a:chExt cx="172136" cy="1721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2085" cy="172085"/>
            </a:xfrm>
            <a:custGeom>
              <a:avLst/>
              <a:gdLst/>
              <a:ahLst/>
              <a:cxnLst/>
              <a:rect r="r" b="b" t="t" l="l"/>
              <a:pathLst>
                <a:path h="172085" w="172085">
                  <a:moveTo>
                    <a:pt x="0" y="0"/>
                  </a:moveTo>
                  <a:lnTo>
                    <a:pt x="172085" y="0"/>
                  </a:lnTo>
                  <a:lnTo>
                    <a:pt x="172085" y="172085"/>
                  </a:lnTo>
                  <a:lnTo>
                    <a:pt x="0" y="172085"/>
                  </a:lnTo>
                  <a:close/>
                </a:path>
              </a:pathLst>
            </a:custGeom>
            <a:blipFill>
              <a:blip r:embed="rId4"/>
              <a:stretch>
                <a:fillRect l="0" t="0" r="-29" b="-29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06680" y="6605473"/>
            <a:ext cx="129102" cy="129102"/>
            <a:chOff x="0" y="0"/>
            <a:chExt cx="172136" cy="1721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2085" cy="172085"/>
            </a:xfrm>
            <a:custGeom>
              <a:avLst/>
              <a:gdLst/>
              <a:ahLst/>
              <a:cxnLst/>
              <a:rect r="r" b="b" t="t" l="l"/>
              <a:pathLst>
                <a:path h="172085" w="172085">
                  <a:moveTo>
                    <a:pt x="0" y="0"/>
                  </a:moveTo>
                  <a:lnTo>
                    <a:pt x="172085" y="0"/>
                  </a:lnTo>
                  <a:lnTo>
                    <a:pt x="172085" y="172085"/>
                  </a:lnTo>
                  <a:lnTo>
                    <a:pt x="0" y="172085"/>
                  </a:lnTo>
                  <a:close/>
                </a:path>
              </a:pathLst>
            </a:custGeom>
            <a:blipFill>
              <a:blip r:embed="rId4"/>
              <a:stretch>
                <a:fillRect l="0" t="0" r="-29" b="-29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35498" y="7334650"/>
            <a:ext cx="129102" cy="129102"/>
            <a:chOff x="0" y="0"/>
            <a:chExt cx="172136" cy="1721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2085" cy="172085"/>
            </a:xfrm>
            <a:custGeom>
              <a:avLst/>
              <a:gdLst/>
              <a:ahLst/>
              <a:cxnLst/>
              <a:rect r="r" b="b" t="t" l="l"/>
              <a:pathLst>
                <a:path h="172085" w="172085">
                  <a:moveTo>
                    <a:pt x="0" y="0"/>
                  </a:moveTo>
                  <a:lnTo>
                    <a:pt x="172085" y="0"/>
                  </a:lnTo>
                  <a:lnTo>
                    <a:pt x="172085" y="172085"/>
                  </a:lnTo>
                  <a:lnTo>
                    <a:pt x="0" y="172085"/>
                  </a:lnTo>
                  <a:close/>
                </a:path>
              </a:pathLst>
            </a:custGeom>
            <a:blipFill>
              <a:blip r:embed="rId4"/>
              <a:stretch>
                <a:fillRect l="0" t="0" r="-29" b="-29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14479" y="8158712"/>
            <a:ext cx="129102" cy="129102"/>
            <a:chOff x="0" y="0"/>
            <a:chExt cx="172136" cy="17213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2085" cy="172085"/>
            </a:xfrm>
            <a:custGeom>
              <a:avLst/>
              <a:gdLst/>
              <a:ahLst/>
              <a:cxnLst/>
              <a:rect r="r" b="b" t="t" l="l"/>
              <a:pathLst>
                <a:path h="172085" w="172085">
                  <a:moveTo>
                    <a:pt x="0" y="0"/>
                  </a:moveTo>
                  <a:lnTo>
                    <a:pt x="172085" y="0"/>
                  </a:lnTo>
                  <a:lnTo>
                    <a:pt x="172085" y="172085"/>
                  </a:lnTo>
                  <a:lnTo>
                    <a:pt x="0" y="172085"/>
                  </a:lnTo>
                  <a:close/>
                </a:path>
              </a:pathLst>
            </a:custGeom>
            <a:blipFill>
              <a:blip r:embed="rId4"/>
              <a:stretch>
                <a:fillRect l="0" t="0" r="-29" b="-29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1803" y="2506085"/>
            <a:ext cx="8652358" cy="5996778"/>
            <a:chOff x="0" y="0"/>
            <a:chExt cx="11536477" cy="79957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536426" cy="7995666"/>
            </a:xfrm>
            <a:custGeom>
              <a:avLst/>
              <a:gdLst/>
              <a:ahLst/>
              <a:cxnLst/>
              <a:rect r="r" b="b" t="t" l="l"/>
              <a:pathLst>
                <a:path h="7995666" w="11536426">
                  <a:moveTo>
                    <a:pt x="171958" y="0"/>
                  </a:moveTo>
                  <a:lnTo>
                    <a:pt x="11364468" y="0"/>
                  </a:lnTo>
                  <a:cubicBezTo>
                    <a:pt x="11459591" y="0"/>
                    <a:pt x="11536426" y="76962"/>
                    <a:pt x="11536426" y="172085"/>
                  </a:cubicBezTo>
                  <a:lnTo>
                    <a:pt x="11536426" y="7823581"/>
                  </a:lnTo>
                  <a:cubicBezTo>
                    <a:pt x="11536426" y="7869175"/>
                    <a:pt x="11518265" y="7913116"/>
                    <a:pt x="11486261" y="7945375"/>
                  </a:cubicBezTo>
                  <a:cubicBezTo>
                    <a:pt x="11453622" y="7977632"/>
                    <a:pt x="11409934" y="7995666"/>
                    <a:pt x="11364468" y="7995666"/>
                  </a:cubicBezTo>
                  <a:lnTo>
                    <a:pt x="171958" y="7995666"/>
                  </a:lnTo>
                  <a:cubicBezTo>
                    <a:pt x="126619" y="7995666"/>
                    <a:pt x="82804" y="7977505"/>
                    <a:pt x="50165" y="7945375"/>
                  </a:cubicBezTo>
                  <a:cubicBezTo>
                    <a:pt x="18161" y="7913116"/>
                    <a:pt x="0" y="7869175"/>
                    <a:pt x="0" y="7823581"/>
                  </a:cubicBezTo>
                  <a:lnTo>
                    <a:pt x="0" y="172085"/>
                  </a:lnTo>
                  <a:cubicBezTo>
                    <a:pt x="0" y="126619"/>
                    <a:pt x="18161" y="82550"/>
                    <a:pt x="50165" y="50292"/>
                  </a:cubicBezTo>
                  <a:cubicBezTo>
                    <a:pt x="82804" y="18161"/>
                    <a:pt x="126619" y="0"/>
                    <a:pt x="171958" y="0"/>
                  </a:cubicBezTo>
                  <a:close/>
                </a:path>
              </a:pathLst>
            </a:custGeom>
            <a:solidFill>
              <a:srgbClr val="A8BFD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7606" y="2395928"/>
            <a:ext cx="8652358" cy="5933189"/>
            <a:chOff x="0" y="0"/>
            <a:chExt cx="11536477" cy="79109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36553" cy="7910957"/>
            </a:xfrm>
            <a:custGeom>
              <a:avLst/>
              <a:gdLst/>
              <a:ahLst/>
              <a:cxnLst/>
              <a:rect r="r" b="b" t="t" l="l"/>
              <a:pathLst>
                <a:path h="7910957" w="11536553">
                  <a:moveTo>
                    <a:pt x="285242" y="0"/>
                  </a:moveTo>
                  <a:lnTo>
                    <a:pt x="11251311" y="0"/>
                  </a:lnTo>
                  <a:cubicBezTo>
                    <a:pt x="11408918" y="0"/>
                    <a:pt x="11536553" y="127762"/>
                    <a:pt x="11536553" y="285369"/>
                  </a:cubicBezTo>
                  <a:lnTo>
                    <a:pt x="11536553" y="7625588"/>
                  </a:lnTo>
                  <a:cubicBezTo>
                    <a:pt x="11536553" y="7783068"/>
                    <a:pt x="11408918" y="7910957"/>
                    <a:pt x="11251311" y="7910957"/>
                  </a:cubicBezTo>
                  <a:lnTo>
                    <a:pt x="285242" y="7910957"/>
                  </a:lnTo>
                  <a:cubicBezTo>
                    <a:pt x="127635" y="7910957"/>
                    <a:pt x="0" y="7783068"/>
                    <a:pt x="0" y="7625588"/>
                  </a:cubicBezTo>
                  <a:lnTo>
                    <a:pt x="0" y="285369"/>
                  </a:lnTo>
                  <a:cubicBezTo>
                    <a:pt x="0" y="127762"/>
                    <a:pt x="127635" y="0"/>
                    <a:pt x="285242" y="0"/>
                  </a:cubicBezTo>
                  <a:close/>
                </a:path>
              </a:pathLst>
            </a:custGeom>
            <a:solidFill>
              <a:srgbClr val="E6F1FF"/>
            </a:solid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958977" y="2735742"/>
            <a:ext cx="298037" cy="268414"/>
            <a:chOff x="0" y="0"/>
            <a:chExt cx="397383" cy="3578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7383" cy="357886"/>
            </a:xfrm>
            <a:custGeom>
              <a:avLst/>
              <a:gdLst/>
              <a:ahLst/>
              <a:cxnLst/>
              <a:rect r="r" b="b" t="t" l="l"/>
              <a:pathLst>
                <a:path h="357886" w="397383">
                  <a:moveTo>
                    <a:pt x="0" y="0"/>
                  </a:moveTo>
                  <a:lnTo>
                    <a:pt x="397383" y="0"/>
                  </a:lnTo>
                  <a:lnTo>
                    <a:pt x="397383" y="357886"/>
                  </a:lnTo>
                  <a:lnTo>
                    <a:pt x="0" y="357886"/>
                  </a:lnTo>
                  <a:close/>
                </a:path>
              </a:pathLst>
            </a:custGeom>
            <a:blipFill>
              <a:blip r:embed="rId2"/>
              <a:stretch>
                <a:fillRect l="0" t="-691" r="0" b="-688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999211" y="2735980"/>
            <a:ext cx="200158" cy="221942"/>
          </a:xfrm>
          <a:custGeom>
            <a:avLst/>
            <a:gdLst/>
            <a:ahLst/>
            <a:cxnLst/>
            <a:rect r="r" b="b" t="t" l="l"/>
            <a:pathLst>
              <a:path h="221942" w="200158">
                <a:moveTo>
                  <a:pt x="0" y="0"/>
                </a:moveTo>
                <a:lnTo>
                  <a:pt x="200158" y="0"/>
                </a:lnTo>
                <a:lnTo>
                  <a:pt x="200158" y="221942"/>
                </a:lnTo>
                <a:lnTo>
                  <a:pt x="0" y="2219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5400000">
            <a:off x="984371" y="6774199"/>
            <a:ext cx="298037" cy="268414"/>
            <a:chOff x="0" y="0"/>
            <a:chExt cx="397383" cy="35788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7383" cy="357886"/>
            </a:xfrm>
            <a:custGeom>
              <a:avLst/>
              <a:gdLst/>
              <a:ahLst/>
              <a:cxnLst/>
              <a:rect r="r" b="b" t="t" l="l"/>
              <a:pathLst>
                <a:path h="357886" w="397383">
                  <a:moveTo>
                    <a:pt x="0" y="0"/>
                  </a:moveTo>
                  <a:lnTo>
                    <a:pt x="397383" y="0"/>
                  </a:lnTo>
                  <a:lnTo>
                    <a:pt x="397383" y="357886"/>
                  </a:lnTo>
                  <a:lnTo>
                    <a:pt x="0" y="357886"/>
                  </a:lnTo>
                  <a:close/>
                </a:path>
              </a:pathLst>
            </a:custGeom>
            <a:blipFill>
              <a:blip r:embed="rId2"/>
              <a:stretch>
                <a:fillRect l="0" t="-691" r="0" b="-688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024604" y="6774447"/>
            <a:ext cx="200158" cy="221933"/>
          </a:xfrm>
          <a:custGeom>
            <a:avLst/>
            <a:gdLst/>
            <a:ahLst/>
            <a:cxnLst/>
            <a:rect r="r" b="b" t="t" l="l"/>
            <a:pathLst>
              <a:path h="221933" w="200158">
                <a:moveTo>
                  <a:pt x="0" y="0"/>
                </a:moveTo>
                <a:lnTo>
                  <a:pt x="200159" y="0"/>
                </a:lnTo>
                <a:lnTo>
                  <a:pt x="200159" y="221932"/>
                </a:lnTo>
                <a:lnTo>
                  <a:pt x="0" y="2219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5400000">
            <a:off x="937793" y="4690824"/>
            <a:ext cx="298037" cy="268414"/>
            <a:chOff x="0" y="0"/>
            <a:chExt cx="397383" cy="35788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97383" cy="357886"/>
            </a:xfrm>
            <a:custGeom>
              <a:avLst/>
              <a:gdLst/>
              <a:ahLst/>
              <a:cxnLst/>
              <a:rect r="r" b="b" t="t" l="l"/>
              <a:pathLst>
                <a:path h="357886" w="397383">
                  <a:moveTo>
                    <a:pt x="0" y="0"/>
                  </a:moveTo>
                  <a:lnTo>
                    <a:pt x="397383" y="0"/>
                  </a:lnTo>
                  <a:lnTo>
                    <a:pt x="397383" y="357886"/>
                  </a:lnTo>
                  <a:lnTo>
                    <a:pt x="0" y="357886"/>
                  </a:lnTo>
                  <a:close/>
                </a:path>
              </a:pathLst>
            </a:custGeom>
            <a:blipFill>
              <a:blip r:embed="rId2"/>
              <a:stretch>
                <a:fillRect l="0" t="-691" r="0" b="-688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78027" y="4691062"/>
            <a:ext cx="200158" cy="221933"/>
          </a:xfrm>
          <a:custGeom>
            <a:avLst/>
            <a:gdLst/>
            <a:ahLst/>
            <a:cxnLst/>
            <a:rect r="r" b="b" t="t" l="l"/>
            <a:pathLst>
              <a:path h="221933" w="200158">
                <a:moveTo>
                  <a:pt x="0" y="0"/>
                </a:moveTo>
                <a:lnTo>
                  <a:pt x="200158" y="0"/>
                </a:lnTo>
                <a:lnTo>
                  <a:pt x="200158" y="221933"/>
                </a:lnTo>
                <a:lnTo>
                  <a:pt x="0" y="2219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66657" y="2639187"/>
            <a:ext cx="7903493" cy="1511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100" b="tru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Proposed Solution</a:t>
            </a:r>
          </a:p>
          <a:p>
            <a:pPr algn="l">
              <a:lnSpc>
                <a:spcPts val="2300"/>
              </a:lnSpc>
            </a:pP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SAATHI sits beside NHAA’s existing workflow — before </a:t>
            </a:r>
          </a:p>
          <a:p>
            <a:pPr algn="l">
              <a:lnSpc>
                <a:spcPts val="2300"/>
              </a:lnSpc>
            </a:pP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Registration — and runs areal-time Safety Check + Priority Assessment on every voice/text interaction, then hands operators an evidence-backed recommendation. It never diagnoses and never decides on its own.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2864" y="6662966"/>
            <a:ext cx="7721851" cy="1511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100" b="tru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Innovation &amp; uniqueness </a:t>
            </a:r>
          </a:p>
          <a:p>
            <a:pPr algn="l">
              <a:lnSpc>
                <a:spcPts val="2300"/>
              </a:lnSpc>
            </a:pP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A twin-path architecture — a deterministic Safety Engine that can bypass scoring entirely, paired with a transparent, confidence-weighted Priority Score for everything else. Every recommendation shows its evidence; a human always has the final call.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93269" y="4592993"/>
            <a:ext cx="7850257" cy="1803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100" b="tru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How it addresses the problem </a:t>
            </a:r>
          </a:p>
          <a:p>
            <a:pPr algn="l">
              <a:lnSpc>
                <a:spcPts val="2300"/>
              </a:lnSpc>
            </a:pP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Two complaints can read identically on </a:t>
            </a:r>
          </a:p>
          <a:p>
            <a:pPr algn="l">
              <a:lnSpc>
                <a:spcPts val="2300"/>
              </a:lnSpc>
            </a:pP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paper while callers are in very different states. SAATHI flags urgency at first contact from what was said, how it was said, and an optional check-in — routing any explicit danger signal straight to a human, with no scoring step in between.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29934" y="1456687"/>
            <a:ext cx="8632307" cy="920763"/>
            <a:chOff x="0" y="0"/>
            <a:chExt cx="11509743" cy="12276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509756" cy="1227709"/>
            </a:xfrm>
            <a:custGeom>
              <a:avLst/>
              <a:gdLst/>
              <a:ahLst/>
              <a:cxnLst/>
              <a:rect r="r" b="b" t="t" l="l"/>
              <a:pathLst>
                <a:path h="1227709" w="11509756">
                  <a:moveTo>
                    <a:pt x="0" y="0"/>
                  </a:moveTo>
                  <a:lnTo>
                    <a:pt x="11509756" y="0"/>
                  </a:lnTo>
                  <a:lnTo>
                    <a:pt x="11509756" y="1227709"/>
                  </a:lnTo>
                  <a:lnTo>
                    <a:pt x="0" y="1227709"/>
                  </a:lnTo>
                  <a:close/>
                </a:path>
              </a:pathLst>
            </a:custGeom>
            <a:blipFill>
              <a:blip r:embed="rId5"/>
              <a:stretch>
                <a:fillRect l="-295" t="0" r="-295" b="2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342430" y="8512102"/>
            <a:ext cx="722795" cy="774040"/>
            <a:chOff x="0" y="0"/>
            <a:chExt cx="963727" cy="103205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3676" cy="1032002"/>
            </a:xfrm>
            <a:custGeom>
              <a:avLst/>
              <a:gdLst/>
              <a:ahLst/>
              <a:cxnLst/>
              <a:rect r="r" b="b" t="t" l="l"/>
              <a:pathLst>
                <a:path h="1032002" w="963676">
                  <a:moveTo>
                    <a:pt x="0" y="0"/>
                  </a:moveTo>
                  <a:lnTo>
                    <a:pt x="963676" y="0"/>
                  </a:lnTo>
                  <a:lnTo>
                    <a:pt x="963676" y="1032002"/>
                  </a:lnTo>
                  <a:lnTo>
                    <a:pt x="0" y="1032002"/>
                  </a:lnTo>
                  <a:close/>
                </a:path>
              </a:pathLst>
            </a:custGeom>
            <a:blipFill>
              <a:blip r:embed="rId6"/>
              <a:stretch>
                <a:fillRect l="-197" t="0" r="-204" b="-4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5113565" y="8496510"/>
            <a:ext cx="827094" cy="867413"/>
            <a:chOff x="0" y="0"/>
            <a:chExt cx="1102792" cy="11565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02741" cy="1156589"/>
            </a:xfrm>
            <a:custGeom>
              <a:avLst/>
              <a:gdLst/>
              <a:ahLst/>
              <a:cxnLst/>
              <a:rect r="r" b="b" t="t" l="l"/>
              <a:pathLst>
                <a:path h="1156589" w="1102741">
                  <a:moveTo>
                    <a:pt x="0" y="0"/>
                  </a:moveTo>
                  <a:lnTo>
                    <a:pt x="1102741" y="0"/>
                  </a:lnTo>
                  <a:lnTo>
                    <a:pt x="1102741" y="1156589"/>
                  </a:lnTo>
                  <a:lnTo>
                    <a:pt x="0" y="1156589"/>
                  </a:lnTo>
                  <a:close/>
                </a:path>
              </a:pathLst>
            </a:custGeom>
            <a:blipFill>
              <a:blip r:embed="rId7"/>
              <a:stretch>
                <a:fillRect l="-88" t="0" r="-94" b="3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16843219" y="8611552"/>
            <a:ext cx="913390" cy="689743"/>
          </a:xfrm>
          <a:custGeom>
            <a:avLst/>
            <a:gdLst/>
            <a:ahLst/>
            <a:cxnLst/>
            <a:rect r="r" b="b" t="t" l="l"/>
            <a:pathLst>
              <a:path h="689743" w="913390">
                <a:moveTo>
                  <a:pt x="0" y="0"/>
                </a:moveTo>
                <a:lnTo>
                  <a:pt x="913391" y="0"/>
                </a:lnTo>
                <a:lnTo>
                  <a:pt x="913391" y="689744"/>
                </a:lnTo>
                <a:lnTo>
                  <a:pt x="0" y="6897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303714" y="2596677"/>
            <a:ext cx="97384" cy="3214154"/>
            <a:chOff x="0" y="0"/>
            <a:chExt cx="129845" cy="428553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9794" cy="4285488"/>
            </a:xfrm>
            <a:custGeom>
              <a:avLst/>
              <a:gdLst/>
              <a:ahLst/>
              <a:cxnLst/>
              <a:rect r="r" b="b" t="t" l="l"/>
              <a:pathLst>
                <a:path h="4285488" w="129794">
                  <a:moveTo>
                    <a:pt x="0" y="0"/>
                  </a:moveTo>
                  <a:lnTo>
                    <a:pt x="129794" y="0"/>
                  </a:lnTo>
                  <a:lnTo>
                    <a:pt x="129794" y="4285488"/>
                  </a:lnTo>
                  <a:lnTo>
                    <a:pt x="0" y="4285488"/>
                  </a:lnTo>
                  <a:close/>
                </a:path>
              </a:pathLst>
            </a:custGeom>
            <a:blipFill>
              <a:blip r:embed="rId10"/>
              <a:stretch>
                <a:fillRect l="0" t="-6326" r="-39" b="-6327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287846" y="7062845"/>
            <a:ext cx="92050" cy="996925"/>
            <a:chOff x="0" y="0"/>
            <a:chExt cx="122733" cy="132923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2682" cy="1329182"/>
            </a:xfrm>
            <a:custGeom>
              <a:avLst/>
              <a:gdLst/>
              <a:ahLst/>
              <a:cxnLst/>
              <a:rect r="r" b="b" t="t" l="l"/>
              <a:pathLst>
                <a:path h="1329182" w="122682">
                  <a:moveTo>
                    <a:pt x="0" y="0"/>
                  </a:moveTo>
                  <a:lnTo>
                    <a:pt x="122682" y="0"/>
                  </a:lnTo>
                  <a:lnTo>
                    <a:pt x="122682" y="1329182"/>
                  </a:lnTo>
                  <a:lnTo>
                    <a:pt x="0" y="1329182"/>
                  </a:lnTo>
                  <a:close/>
                </a:path>
              </a:pathLst>
            </a:custGeom>
            <a:blipFill>
              <a:blip r:embed="rId11"/>
              <a:stretch>
                <a:fillRect l="0" t="-8630" r="-41" b="-8633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82951" y="1456687"/>
            <a:ext cx="6526282" cy="677170"/>
            <a:chOff x="0" y="0"/>
            <a:chExt cx="8701710" cy="90289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701659" cy="902843"/>
            </a:xfrm>
            <a:custGeom>
              <a:avLst/>
              <a:gdLst/>
              <a:ahLst/>
              <a:cxnLst/>
              <a:rect r="r" b="b" t="t" l="l"/>
              <a:pathLst>
                <a:path h="902843" w="8701659">
                  <a:moveTo>
                    <a:pt x="0" y="0"/>
                  </a:moveTo>
                  <a:lnTo>
                    <a:pt x="8701659" y="0"/>
                  </a:lnTo>
                  <a:lnTo>
                    <a:pt x="8701659" y="902843"/>
                  </a:lnTo>
                  <a:lnTo>
                    <a:pt x="0" y="902843"/>
                  </a:lnTo>
                  <a:close/>
                </a:path>
              </a:pathLst>
            </a:custGeom>
            <a:blipFill>
              <a:blip r:embed="rId12"/>
              <a:stretch>
                <a:fillRect l="-880" t="0" r="-881" b="-5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-6353" y="2154946"/>
            <a:ext cx="401965" cy="6448168"/>
            <a:chOff x="0" y="0"/>
            <a:chExt cx="535953" cy="859755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35940" cy="8597519"/>
            </a:xfrm>
            <a:custGeom>
              <a:avLst/>
              <a:gdLst/>
              <a:ahLst/>
              <a:cxnLst/>
              <a:rect r="r" b="b" t="t" l="l"/>
              <a:pathLst>
                <a:path h="8597519" w="535940">
                  <a:moveTo>
                    <a:pt x="0" y="0"/>
                  </a:moveTo>
                  <a:lnTo>
                    <a:pt x="535940" y="0"/>
                  </a:lnTo>
                  <a:lnTo>
                    <a:pt x="535940" y="8597519"/>
                  </a:lnTo>
                  <a:lnTo>
                    <a:pt x="0" y="859751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2672584" y="5920064"/>
            <a:ext cx="1701155" cy="46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 spc="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342430" y="6815452"/>
            <a:ext cx="1071801" cy="1094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9"/>
              </a:lnSpc>
            </a:pP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SCORE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326292" y="7093496"/>
            <a:ext cx="461286" cy="70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1800">
                <a:solidFill>
                  <a:srgbClr val="FDFDFD"/>
                </a:solidFill>
                <a:latin typeface="Calibri (MS)"/>
                <a:ea typeface="Calibri (MS)"/>
                <a:cs typeface="Calibri (MS)"/>
                <a:sym typeface="Calibri (MS)"/>
              </a:rPr>
              <a:t>SAFE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782362" y="6919046"/>
            <a:ext cx="1059094" cy="558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9"/>
              </a:lnSpc>
            </a:pPr>
            <a:r>
              <a:rPr lang="en-US" sz="29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OPS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670131" y="6919046"/>
            <a:ext cx="1059094" cy="558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9"/>
              </a:lnSpc>
            </a:pPr>
            <a:r>
              <a:rPr lang="en-US" sz="29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CO-P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0483539" y="6807327"/>
            <a:ext cx="1281570" cy="1800177"/>
            <a:chOff x="0" y="0"/>
            <a:chExt cx="1708760" cy="24002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08658" cy="2400300"/>
            </a:xfrm>
            <a:custGeom>
              <a:avLst/>
              <a:gdLst/>
              <a:ahLst/>
              <a:cxnLst/>
              <a:rect r="r" b="b" t="t" l="l"/>
              <a:pathLst>
                <a:path h="2400300" w="1708658">
                  <a:moveTo>
                    <a:pt x="671195" y="0"/>
                  </a:moveTo>
                  <a:lnTo>
                    <a:pt x="1037463" y="0"/>
                  </a:lnTo>
                  <a:cubicBezTo>
                    <a:pt x="1408176" y="0"/>
                    <a:pt x="1708658" y="300609"/>
                    <a:pt x="1708658" y="671322"/>
                  </a:cubicBezTo>
                  <a:lnTo>
                    <a:pt x="1708658" y="1728978"/>
                  </a:lnTo>
                  <a:cubicBezTo>
                    <a:pt x="1708658" y="2099691"/>
                    <a:pt x="1408176" y="2400300"/>
                    <a:pt x="1037463" y="2400300"/>
                  </a:cubicBezTo>
                  <a:lnTo>
                    <a:pt x="671195" y="2400300"/>
                  </a:lnTo>
                  <a:cubicBezTo>
                    <a:pt x="300482" y="2400300"/>
                    <a:pt x="0" y="2099691"/>
                    <a:pt x="0" y="1728978"/>
                  </a:cubicBezTo>
                  <a:lnTo>
                    <a:pt x="0" y="671322"/>
                  </a:lnTo>
                  <a:cubicBezTo>
                    <a:pt x="0" y="300609"/>
                    <a:pt x="300482" y="0"/>
                    <a:pt x="671195" y="0"/>
                  </a:cubicBezTo>
                  <a:close/>
                </a:path>
              </a:pathLst>
            </a:custGeom>
            <a:solidFill>
              <a:srgbClr val="BF7E5C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843385" y="7705115"/>
            <a:ext cx="1287370" cy="1832124"/>
            <a:chOff x="0" y="0"/>
            <a:chExt cx="1716494" cy="244283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716532" cy="2442845"/>
            </a:xfrm>
            <a:custGeom>
              <a:avLst/>
              <a:gdLst/>
              <a:ahLst/>
              <a:cxnLst/>
              <a:rect r="r" b="b" t="t" l="l"/>
              <a:pathLst>
                <a:path h="2442845" w="1716532">
                  <a:moveTo>
                    <a:pt x="668274" y="0"/>
                  </a:moveTo>
                  <a:lnTo>
                    <a:pt x="1048258" y="0"/>
                  </a:lnTo>
                  <a:cubicBezTo>
                    <a:pt x="1225423" y="0"/>
                    <a:pt x="1395476" y="70485"/>
                    <a:pt x="1520825" y="195707"/>
                  </a:cubicBezTo>
                  <a:cubicBezTo>
                    <a:pt x="1646174" y="320929"/>
                    <a:pt x="1716532" y="490982"/>
                    <a:pt x="1716532" y="668274"/>
                  </a:cubicBezTo>
                  <a:lnTo>
                    <a:pt x="1716532" y="1774571"/>
                  </a:lnTo>
                  <a:cubicBezTo>
                    <a:pt x="1716532" y="1951736"/>
                    <a:pt x="1646174" y="2121789"/>
                    <a:pt x="1520825" y="2247138"/>
                  </a:cubicBezTo>
                  <a:cubicBezTo>
                    <a:pt x="1395476" y="2372487"/>
                    <a:pt x="1225550" y="2442845"/>
                    <a:pt x="1048258" y="2442845"/>
                  </a:cubicBezTo>
                  <a:lnTo>
                    <a:pt x="668274" y="2442845"/>
                  </a:lnTo>
                  <a:cubicBezTo>
                    <a:pt x="491109" y="2442845"/>
                    <a:pt x="321056" y="2372487"/>
                    <a:pt x="195707" y="2247138"/>
                  </a:cubicBezTo>
                  <a:cubicBezTo>
                    <a:pt x="70358" y="2121789"/>
                    <a:pt x="0" y="1951736"/>
                    <a:pt x="0" y="1774571"/>
                  </a:cubicBezTo>
                  <a:lnTo>
                    <a:pt x="0" y="668274"/>
                  </a:lnTo>
                  <a:cubicBezTo>
                    <a:pt x="0" y="491109"/>
                    <a:pt x="70358" y="321056"/>
                    <a:pt x="195707" y="195707"/>
                  </a:cubicBezTo>
                  <a:cubicBezTo>
                    <a:pt x="321056" y="70358"/>
                    <a:pt x="490982" y="0"/>
                    <a:pt x="668274" y="0"/>
                  </a:cubicBezTo>
                  <a:close/>
                </a:path>
              </a:pathLst>
            </a:custGeom>
            <a:solidFill>
              <a:srgbClr val="B46557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232511" y="7956604"/>
            <a:ext cx="1287370" cy="1777355"/>
            <a:chOff x="0" y="0"/>
            <a:chExt cx="1716494" cy="236980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716532" cy="2369820"/>
            </a:xfrm>
            <a:custGeom>
              <a:avLst/>
              <a:gdLst/>
              <a:ahLst/>
              <a:cxnLst/>
              <a:rect r="r" b="b" t="t" l="l"/>
              <a:pathLst>
                <a:path h="2369820" w="1716532">
                  <a:moveTo>
                    <a:pt x="668274" y="0"/>
                  </a:moveTo>
                  <a:lnTo>
                    <a:pt x="1048258" y="0"/>
                  </a:lnTo>
                  <a:cubicBezTo>
                    <a:pt x="1225423" y="0"/>
                    <a:pt x="1395476" y="70485"/>
                    <a:pt x="1520825" y="195707"/>
                  </a:cubicBezTo>
                  <a:cubicBezTo>
                    <a:pt x="1646174" y="320929"/>
                    <a:pt x="1716532" y="490982"/>
                    <a:pt x="1716532" y="668274"/>
                  </a:cubicBezTo>
                  <a:lnTo>
                    <a:pt x="1716532" y="1701546"/>
                  </a:lnTo>
                  <a:cubicBezTo>
                    <a:pt x="1716532" y="1878838"/>
                    <a:pt x="1646174" y="2048764"/>
                    <a:pt x="1520825" y="2174113"/>
                  </a:cubicBezTo>
                  <a:cubicBezTo>
                    <a:pt x="1395476" y="2299462"/>
                    <a:pt x="1225423" y="2369820"/>
                    <a:pt x="1048258" y="2369820"/>
                  </a:cubicBezTo>
                  <a:lnTo>
                    <a:pt x="668274" y="2369820"/>
                  </a:lnTo>
                  <a:cubicBezTo>
                    <a:pt x="491109" y="2369820"/>
                    <a:pt x="321056" y="2299335"/>
                    <a:pt x="195707" y="2174113"/>
                  </a:cubicBezTo>
                  <a:cubicBezTo>
                    <a:pt x="70358" y="2048891"/>
                    <a:pt x="0" y="1878838"/>
                    <a:pt x="0" y="1701546"/>
                  </a:cubicBezTo>
                  <a:lnTo>
                    <a:pt x="0" y="668274"/>
                  </a:lnTo>
                  <a:cubicBezTo>
                    <a:pt x="0" y="490982"/>
                    <a:pt x="70358" y="321056"/>
                    <a:pt x="195707" y="195707"/>
                  </a:cubicBezTo>
                  <a:cubicBezTo>
                    <a:pt x="321056" y="70358"/>
                    <a:pt x="490982" y="0"/>
                    <a:pt x="668274" y="0"/>
                  </a:cubicBezTo>
                  <a:close/>
                </a:path>
              </a:pathLst>
            </a:custGeom>
            <a:solidFill>
              <a:srgbClr val="BFA258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4630219" y="7782868"/>
            <a:ext cx="1287370" cy="1805130"/>
            <a:chOff x="0" y="0"/>
            <a:chExt cx="1716494" cy="24068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16532" cy="2406904"/>
            </a:xfrm>
            <a:custGeom>
              <a:avLst/>
              <a:gdLst/>
              <a:ahLst/>
              <a:cxnLst/>
              <a:rect r="r" b="b" t="t" l="l"/>
              <a:pathLst>
                <a:path h="2406904" w="1716532">
                  <a:moveTo>
                    <a:pt x="668274" y="0"/>
                  </a:moveTo>
                  <a:lnTo>
                    <a:pt x="1048258" y="0"/>
                  </a:lnTo>
                  <a:cubicBezTo>
                    <a:pt x="1225423" y="0"/>
                    <a:pt x="1395476" y="70485"/>
                    <a:pt x="1520825" y="195707"/>
                  </a:cubicBezTo>
                  <a:cubicBezTo>
                    <a:pt x="1646174" y="320929"/>
                    <a:pt x="1716532" y="491109"/>
                    <a:pt x="1716532" y="668274"/>
                  </a:cubicBezTo>
                  <a:lnTo>
                    <a:pt x="1716532" y="1738630"/>
                  </a:lnTo>
                  <a:cubicBezTo>
                    <a:pt x="1716532" y="1915922"/>
                    <a:pt x="1646174" y="2085848"/>
                    <a:pt x="1520825" y="2211197"/>
                  </a:cubicBezTo>
                  <a:cubicBezTo>
                    <a:pt x="1395476" y="2336546"/>
                    <a:pt x="1225550" y="2406904"/>
                    <a:pt x="1048258" y="2406904"/>
                  </a:cubicBezTo>
                  <a:lnTo>
                    <a:pt x="668274" y="2406904"/>
                  </a:lnTo>
                  <a:cubicBezTo>
                    <a:pt x="491109" y="2406904"/>
                    <a:pt x="321056" y="2336419"/>
                    <a:pt x="195707" y="2211197"/>
                  </a:cubicBezTo>
                  <a:cubicBezTo>
                    <a:pt x="70358" y="2085975"/>
                    <a:pt x="0" y="1915922"/>
                    <a:pt x="0" y="1738630"/>
                  </a:cubicBezTo>
                  <a:lnTo>
                    <a:pt x="0" y="668274"/>
                  </a:lnTo>
                  <a:cubicBezTo>
                    <a:pt x="0" y="491109"/>
                    <a:pt x="70358" y="321056"/>
                    <a:pt x="195707" y="195707"/>
                  </a:cubicBezTo>
                  <a:cubicBezTo>
                    <a:pt x="321056" y="70358"/>
                    <a:pt x="490982" y="0"/>
                    <a:pt x="668274" y="0"/>
                  </a:cubicBezTo>
                  <a:close/>
                </a:path>
              </a:pathLst>
            </a:custGeom>
            <a:solidFill>
              <a:srgbClr val="DE795E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6022869" y="6876059"/>
            <a:ext cx="1287370" cy="1809379"/>
            <a:chOff x="0" y="0"/>
            <a:chExt cx="1716494" cy="241250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716532" cy="2412619"/>
            </a:xfrm>
            <a:custGeom>
              <a:avLst/>
              <a:gdLst/>
              <a:ahLst/>
              <a:cxnLst/>
              <a:rect r="r" b="b" t="t" l="l"/>
              <a:pathLst>
                <a:path h="2412619" w="1716532">
                  <a:moveTo>
                    <a:pt x="668274" y="0"/>
                  </a:moveTo>
                  <a:lnTo>
                    <a:pt x="1048258" y="0"/>
                  </a:lnTo>
                  <a:cubicBezTo>
                    <a:pt x="1225423" y="0"/>
                    <a:pt x="1395476" y="70358"/>
                    <a:pt x="1520825" y="195707"/>
                  </a:cubicBezTo>
                  <a:cubicBezTo>
                    <a:pt x="1646174" y="321056"/>
                    <a:pt x="1716532" y="490982"/>
                    <a:pt x="1716532" y="668274"/>
                  </a:cubicBezTo>
                  <a:lnTo>
                    <a:pt x="1716532" y="1744345"/>
                  </a:lnTo>
                  <a:cubicBezTo>
                    <a:pt x="1716532" y="1921637"/>
                    <a:pt x="1646174" y="2091563"/>
                    <a:pt x="1520825" y="2216912"/>
                  </a:cubicBezTo>
                  <a:cubicBezTo>
                    <a:pt x="1395476" y="2342261"/>
                    <a:pt x="1225550" y="2412619"/>
                    <a:pt x="1048258" y="2412619"/>
                  </a:cubicBezTo>
                  <a:lnTo>
                    <a:pt x="668274" y="2412619"/>
                  </a:lnTo>
                  <a:cubicBezTo>
                    <a:pt x="491109" y="2412619"/>
                    <a:pt x="321056" y="2342261"/>
                    <a:pt x="195707" y="2216912"/>
                  </a:cubicBezTo>
                  <a:cubicBezTo>
                    <a:pt x="70358" y="2091563"/>
                    <a:pt x="0" y="1921510"/>
                    <a:pt x="0" y="1744218"/>
                  </a:cubicBezTo>
                  <a:lnTo>
                    <a:pt x="0" y="668274"/>
                  </a:lnTo>
                  <a:cubicBezTo>
                    <a:pt x="0" y="490982"/>
                    <a:pt x="70358" y="321056"/>
                    <a:pt x="195707" y="195707"/>
                  </a:cubicBezTo>
                  <a:cubicBezTo>
                    <a:pt x="321056" y="70358"/>
                    <a:pt x="490982" y="0"/>
                    <a:pt x="668274" y="0"/>
                  </a:cubicBezTo>
                  <a:close/>
                </a:path>
              </a:pathLst>
            </a:custGeom>
            <a:solidFill>
              <a:srgbClr val="8C6E62"/>
            </a:solidFill>
          </p:spPr>
        </p:sp>
      </p:grpSp>
      <p:grpSp>
        <p:nvGrpSpPr>
          <p:cNvPr name="Group 48" id="48"/>
          <p:cNvGrpSpPr/>
          <p:nvPr/>
        </p:nvGrpSpPr>
        <p:grpSpPr>
          <a:xfrm rot="212100">
            <a:off x="12602280" y="6770151"/>
            <a:ext cx="792918" cy="911400"/>
            <a:chOff x="0" y="0"/>
            <a:chExt cx="1057224" cy="1215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57275" cy="1215136"/>
            </a:xfrm>
            <a:custGeom>
              <a:avLst/>
              <a:gdLst/>
              <a:ahLst/>
              <a:cxnLst/>
              <a:rect r="r" b="b" t="t" l="l"/>
              <a:pathLst>
                <a:path h="1215136" w="1057275">
                  <a:moveTo>
                    <a:pt x="0" y="0"/>
                  </a:moveTo>
                  <a:lnTo>
                    <a:pt x="1057275" y="0"/>
                  </a:lnTo>
                  <a:lnTo>
                    <a:pt x="1057275" y="1215136"/>
                  </a:lnTo>
                  <a:lnTo>
                    <a:pt x="0" y="1215136"/>
                  </a:lnTo>
                  <a:close/>
                </a:path>
              </a:pathLst>
            </a:custGeom>
            <a:blipFill>
              <a:blip r:embed="rId13"/>
              <a:stretch>
                <a:fillRect l="0" t="-74" r="4" b="-78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-9109260">
            <a:off x="11791483" y="6381560"/>
            <a:ext cx="1028214" cy="730034"/>
            <a:chOff x="0" y="0"/>
            <a:chExt cx="1370952" cy="97337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70965" cy="973328"/>
            </a:xfrm>
            <a:custGeom>
              <a:avLst/>
              <a:gdLst/>
              <a:ahLst/>
              <a:cxnLst/>
              <a:rect r="r" b="b" t="t" l="l"/>
              <a:pathLst>
                <a:path h="973328" w="1370965">
                  <a:moveTo>
                    <a:pt x="0" y="0"/>
                  </a:moveTo>
                  <a:lnTo>
                    <a:pt x="1370965" y="0"/>
                  </a:lnTo>
                  <a:lnTo>
                    <a:pt x="1370965" y="973328"/>
                  </a:lnTo>
                  <a:lnTo>
                    <a:pt x="0" y="973328"/>
                  </a:lnTo>
                  <a:close/>
                </a:path>
              </a:pathLst>
            </a:custGeom>
            <a:blipFill>
              <a:blip r:embed="rId14"/>
              <a:stretch>
                <a:fillRect l="-171" t="0" r="-170" b="-5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3303600">
            <a:off x="13179676" y="7291788"/>
            <a:ext cx="1187615" cy="332537"/>
            <a:chOff x="0" y="0"/>
            <a:chExt cx="1583487" cy="44338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583436" cy="443357"/>
            </a:xfrm>
            <a:custGeom>
              <a:avLst/>
              <a:gdLst/>
              <a:ahLst/>
              <a:cxnLst/>
              <a:rect r="r" b="b" t="t" l="l"/>
              <a:pathLst>
                <a:path h="443357" w="1583436">
                  <a:moveTo>
                    <a:pt x="0" y="0"/>
                  </a:moveTo>
                  <a:lnTo>
                    <a:pt x="1583436" y="0"/>
                  </a:lnTo>
                  <a:lnTo>
                    <a:pt x="1583436" y="443357"/>
                  </a:lnTo>
                  <a:lnTo>
                    <a:pt x="0" y="443357"/>
                  </a:lnTo>
                  <a:close/>
                </a:path>
              </a:pathLst>
            </a:custGeom>
            <a:blipFill>
              <a:blip r:embed="rId15"/>
              <a:stretch>
                <a:fillRect l="0" t="-406" r="-3" b="-412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-2435400">
            <a:off x="14971385" y="6557000"/>
            <a:ext cx="838762" cy="964092"/>
            <a:chOff x="0" y="0"/>
            <a:chExt cx="1118349" cy="1285456"/>
          </a:xfrm>
        </p:grpSpPr>
        <p:sp>
          <p:nvSpPr>
            <p:cNvPr name="Freeform 55" id="55"/>
            <p:cNvSpPr/>
            <p:nvPr/>
          </p:nvSpPr>
          <p:spPr>
            <a:xfrm flipH="true" flipV="false" rot="0">
              <a:off x="0" y="0"/>
              <a:ext cx="1118362" cy="1285494"/>
            </a:xfrm>
            <a:custGeom>
              <a:avLst/>
              <a:gdLst/>
              <a:ahLst/>
              <a:cxnLst/>
              <a:rect r="r" b="b" t="t" l="l"/>
              <a:pathLst>
                <a:path h="1285494" w="1118362">
                  <a:moveTo>
                    <a:pt x="0" y="0"/>
                  </a:moveTo>
                  <a:lnTo>
                    <a:pt x="1118362" y="0"/>
                  </a:lnTo>
                  <a:lnTo>
                    <a:pt x="1118362" y="1285494"/>
                  </a:lnTo>
                  <a:lnTo>
                    <a:pt x="0" y="1285494"/>
                  </a:lnTo>
                  <a:close/>
                </a:path>
              </a:pathLst>
            </a:custGeom>
            <a:blipFill>
              <a:blip r:embed="rId13"/>
              <a:stretch>
                <a:fillRect l="0" t="-74" r="1" b="-71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5400000">
            <a:off x="14431185" y="7132120"/>
            <a:ext cx="657387" cy="466744"/>
            <a:chOff x="0" y="0"/>
            <a:chExt cx="876516" cy="62232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76554" cy="622300"/>
            </a:xfrm>
            <a:custGeom>
              <a:avLst/>
              <a:gdLst/>
              <a:ahLst/>
              <a:cxnLst/>
              <a:rect r="r" b="b" t="t" l="l"/>
              <a:pathLst>
                <a:path h="622300" w="876554">
                  <a:moveTo>
                    <a:pt x="0" y="0"/>
                  </a:moveTo>
                  <a:lnTo>
                    <a:pt x="876554" y="0"/>
                  </a:lnTo>
                  <a:lnTo>
                    <a:pt x="876554" y="622300"/>
                  </a:lnTo>
                  <a:lnTo>
                    <a:pt x="0" y="622300"/>
                  </a:lnTo>
                  <a:close/>
                </a:path>
              </a:pathLst>
            </a:custGeom>
            <a:blipFill>
              <a:blip r:embed="rId14"/>
              <a:stretch>
                <a:fillRect l="-170" t="0" r="-168" b="-4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3123497" y="6227074"/>
            <a:ext cx="1299972" cy="617706"/>
            <a:chOff x="0" y="0"/>
            <a:chExt cx="1733296" cy="82360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733423" cy="823722"/>
            </a:xfrm>
            <a:custGeom>
              <a:avLst/>
              <a:gdLst/>
              <a:ahLst/>
              <a:cxnLst/>
              <a:rect r="r" b="b" t="t" l="l"/>
              <a:pathLst>
                <a:path h="823722" w="1733423">
                  <a:moveTo>
                    <a:pt x="411861" y="0"/>
                  </a:moveTo>
                  <a:lnTo>
                    <a:pt x="1321562" y="0"/>
                  </a:lnTo>
                  <a:cubicBezTo>
                    <a:pt x="1549019" y="0"/>
                    <a:pt x="1733423" y="184404"/>
                    <a:pt x="1733423" y="411861"/>
                  </a:cubicBezTo>
                  <a:cubicBezTo>
                    <a:pt x="1733423" y="639318"/>
                    <a:pt x="1549019" y="823722"/>
                    <a:pt x="1321562" y="823722"/>
                  </a:cubicBezTo>
                  <a:lnTo>
                    <a:pt x="411861" y="823722"/>
                  </a:lnTo>
                  <a:cubicBezTo>
                    <a:pt x="184404" y="823595"/>
                    <a:pt x="0" y="639191"/>
                    <a:pt x="0" y="411861"/>
                  </a:cubicBezTo>
                  <a:cubicBezTo>
                    <a:pt x="0" y="184531"/>
                    <a:pt x="184404" y="0"/>
                    <a:pt x="411861" y="0"/>
                  </a:cubicBezTo>
                  <a:close/>
                </a:path>
              </a:pathLst>
            </a:custGeom>
            <a:solidFill>
              <a:srgbClr val="61704C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2703254" y="6535931"/>
            <a:ext cx="2140448" cy="617706"/>
            <a:chOff x="0" y="0"/>
            <a:chExt cx="2853931" cy="82360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853944" cy="823722"/>
            </a:xfrm>
            <a:custGeom>
              <a:avLst/>
              <a:gdLst/>
              <a:ahLst/>
              <a:cxnLst/>
              <a:rect r="r" b="b" t="t" l="l"/>
              <a:pathLst>
                <a:path h="823722" w="2853944">
                  <a:moveTo>
                    <a:pt x="411861" y="0"/>
                  </a:moveTo>
                  <a:lnTo>
                    <a:pt x="2442083" y="0"/>
                  </a:lnTo>
                  <a:cubicBezTo>
                    <a:pt x="2551303" y="0"/>
                    <a:pt x="2656078" y="43434"/>
                    <a:pt x="2733294" y="120650"/>
                  </a:cubicBezTo>
                  <a:cubicBezTo>
                    <a:pt x="2810637" y="197866"/>
                    <a:pt x="2853944" y="302641"/>
                    <a:pt x="2853944" y="411861"/>
                  </a:cubicBezTo>
                  <a:cubicBezTo>
                    <a:pt x="2853944" y="639318"/>
                    <a:pt x="2669667" y="823722"/>
                    <a:pt x="2442083" y="823722"/>
                  </a:cubicBezTo>
                  <a:lnTo>
                    <a:pt x="411861" y="823722"/>
                  </a:lnTo>
                  <a:cubicBezTo>
                    <a:pt x="184277" y="823595"/>
                    <a:pt x="0" y="639191"/>
                    <a:pt x="0" y="411861"/>
                  </a:cubicBezTo>
                  <a:cubicBezTo>
                    <a:pt x="0" y="184531"/>
                    <a:pt x="184277" y="0"/>
                    <a:pt x="411861" y="0"/>
                  </a:cubicBezTo>
                  <a:close/>
                </a:path>
              </a:pathLst>
            </a:custGeom>
            <a:solidFill>
              <a:srgbClr val="61704C"/>
            </a:solidFill>
          </p:spPr>
        </p:sp>
      </p:grpSp>
      <p:sp>
        <p:nvSpPr>
          <p:cNvPr name="AutoShape 62" id="62"/>
          <p:cNvSpPr/>
          <p:nvPr/>
        </p:nvSpPr>
        <p:spPr>
          <a:xfrm rot="119100">
            <a:off x="10757545" y="7272376"/>
            <a:ext cx="733558" cy="0"/>
          </a:xfrm>
          <a:prstGeom prst="line">
            <a:avLst/>
          </a:prstGeom>
          <a:ln cap="rnd" w="19050">
            <a:solidFill>
              <a:srgbClr val="F3EEE1">
                <a:alpha val="5451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3" id="63"/>
          <p:cNvGrpSpPr/>
          <p:nvPr/>
        </p:nvGrpSpPr>
        <p:grpSpPr>
          <a:xfrm rot="0">
            <a:off x="10587018" y="6944258"/>
            <a:ext cx="1080421" cy="1521724"/>
            <a:chOff x="0" y="0"/>
            <a:chExt cx="1440561" cy="202896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440561" cy="2028952"/>
            </a:xfrm>
            <a:custGeom>
              <a:avLst/>
              <a:gdLst/>
              <a:ahLst/>
              <a:cxnLst/>
              <a:rect r="r" b="b" t="t" l="l"/>
              <a:pathLst>
                <a:path h="2028952" w="1440561">
                  <a:moveTo>
                    <a:pt x="0" y="0"/>
                  </a:moveTo>
                  <a:lnTo>
                    <a:pt x="1440561" y="0"/>
                  </a:lnTo>
                  <a:lnTo>
                    <a:pt x="1440561" y="2028952"/>
                  </a:lnTo>
                  <a:lnTo>
                    <a:pt x="0" y="2028952"/>
                  </a:lnTo>
                  <a:close/>
                </a:path>
              </a:pathLst>
            </a:custGeom>
            <a:blipFill>
              <a:blip r:embed="rId16"/>
              <a:stretch>
                <a:fillRect l="-88" t="0" r="-88" b="0"/>
              </a:stretch>
            </a:blipFill>
          </p:spPr>
        </p:sp>
      </p:grpSp>
      <p:sp>
        <p:nvSpPr>
          <p:cNvPr name="AutoShape 65" id="65"/>
          <p:cNvSpPr/>
          <p:nvPr/>
        </p:nvSpPr>
        <p:spPr>
          <a:xfrm rot="119100">
            <a:off x="12117391" y="8174755"/>
            <a:ext cx="733558" cy="0"/>
          </a:xfrm>
          <a:prstGeom prst="line">
            <a:avLst/>
          </a:prstGeom>
          <a:ln cap="rnd" w="19050">
            <a:solidFill>
              <a:srgbClr val="F3EEE1">
                <a:alpha val="5451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6" id="66"/>
          <p:cNvGrpSpPr/>
          <p:nvPr/>
        </p:nvGrpSpPr>
        <p:grpSpPr>
          <a:xfrm rot="0">
            <a:off x="11946855" y="7846647"/>
            <a:ext cx="1080421" cy="1521724"/>
            <a:chOff x="0" y="0"/>
            <a:chExt cx="1440561" cy="202896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440561" cy="2028952"/>
            </a:xfrm>
            <a:custGeom>
              <a:avLst/>
              <a:gdLst/>
              <a:ahLst/>
              <a:cxnLst/>
              <a:rect r="r" b="b" t="t" l="l"/>
              <a:pathLst>
                <a:path h="2028952" w="1440561">
                  <a:moveTo>
                    <a:pt x="0" y="0"/>
                  </a:moveTo>
                  <a:lnTo>
                    <a:pt x="1440561" y="0"/>
                  </a:lnTo>
                  <a:lnTo>
                    <a:pt x="1440561" y="2028952"/>
                  </a:lnTo>
                  <a:lnTo>
                    <a:pt x="0" y="2028952"/>
                  </a:lnTo>
                  <a:close/>
                </a:path>
              </a:pathLst>
            </a:custGeom>
            <a:blipFill>
              <a:blip r:embed="rId16"/>
              <a:stretch>
                <a:fillRect l="-88" t="0" r="-88" b="0"/>
              </a:stretch>
            </a:blipFill>
          </p:spPr>
        </p:sp>
      </p:grpSp>
      <p:sp>
        <p:nvSpPr>
          <p:cNvPr name="AutoShape 68" id="68"/>
          <p:cNvSpPr/>
          <p:nvPr/>
        </p:nvSpPr>
        <p:spPr>
          <a:xfrm rot="119100">
            <a:off x="13510803" y="8393125"/>
            <a:ext cx="733558" cy="0"/>
          </a:xfrm>
          <a:prstGeom prst="line">
            <a:avLst/>
          </a:prstGeom>
          <a:ln cap="rnd" w="19050">
            <a:solidFill>
              <a:srgbClr val="F3EEE1">
                <a:alpha val="5451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9" id="69"/>
          <p:cNvGrpSpPr/>
          <p:nvPr/>
        </p:nvGrpSpPr>
        <p:grpSpPr>
          <a:xfrm rot="0">
            <a:off x="13340277" y="8066284"/>
            <a:ext cx="1080421" cy="1521724"/>
            <a:chOff x="0" y="0"/>
            <a:chExt cx="1440561" cy="202896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440561" cy="2028952"/>
            </a:xfrm>
            <a:custGeom>
              <a:avLst/>
              <a:gdLst/>
              <a:ahLst/>
              <a:cxnLst/>
              <a:rect r="r" b="b" t="t" l="l"/>
              <a:pathLst>
                <a:path h="2028952" w="1440561">
                  <a:moveTo>
                    <a:pt x="0" y="0"/>
                  </a:moveTo>
                  <a:lnTo>
                    <a:pt x="1440561" y="0"/>
                  </a:lnTo>
                  <a:lnTo>
                    <a:pt x="1440561" y="2028952"/>
                  </a:lnTo>
                  <a:lnTo>
                    <a:pt x="0" y="2028952"/>
                  </a:lnTo>
                  <a:close/>
                </a:path>
              </a:pathLst>
            </a:custGeom>
            <a:blipFill>
              <a:blip r:embed="rId16"/>
              <a:stretch>
                <a:fillRect l="-88" t="0" r="-88" b="0"/>
              </a:stretch>
            </a:blipFill>
          </p:spPr>
        </p:sp>
      </p:grpSp>
      <p:sp>
        <p:nvSpPr>
          <p:cNvPr name="AutoShape 71" id="71"/>
          <p:cNvSpPr/>
          <p:nvPr/>
        </p:nvSpPr>
        <p:spPr>
          <a:xfrm rot="119100">
            <a:off x="14893928" y="8187166"/>
            <a:ext cx="733558" cy="0"/>
          </a:xfrm>
          <a:prstGeom prst="line">
            <a:avLst/>
          </a:prstGeom>
          <a:ln cap="rnd" w="19050">
            <a:solidFill>
              <a:srgbClr val="F3EEE1">
                <a:alpha val="5451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2" id="72"/>
          <p:cNvGrpSpPr/>
          <p:nvPr/>
        </p:nvGrpSpPr>
        <p:grpSpPr>
          <a:xfrm rot="0">
            <a:off x="14723393" y="7860316"/>
            <a:ext cx="1080421" cy="1521724"/>
            <a:chOff x="0" y="0"/>
            <a:chExt cx="1440561" cy="202896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440561" cy="2028952"/>
            </a:xfrm>
            <a:custGeom>
              <a:avLst/>
              <a:gdLst/>
              <a:ahLst/>
              <a:cxnLst/>
              <a:rect r="r" b="b" t="t" l="l"/>
              <a:pathLst>
                <a:path h="2028952" w="1440561">
                  <a:moveTo>
                    <a:pt x="0" y="0"/>
                  </a:moveTo>
                  <a:lnTo>
                    <a:pt x="1440561" y="0"/>
                  </a:lnTo>
                  <a:lnTo>
                    <a:pt x="1440561" y="2028952"/>
                  </a:lnTo>
                  <a:lnTo>
                    <a:pt x="0" y="2028952"/>
                  </a:lnTo>
                  <a:close/>
                </a:path>
              </a:pathLst>
            </a:custGeom>
            <a:blipFill>
              <a:blip r:embed="rId16"/>
              <a:stretch>
                <a:fillRect l="-88" t="0" r="-88" b="0"/>
              </a:stretch>
            </a:blipFill>
          </p:spPr>
        </p:sp>
      </p:grpSp>
      <p:sp>
        <p:nvSpPr>
          <p:cNvPr name="AutoShape 74" id="74"/>
          <p:cNvSpPr/>
          <p:nvPr/>
        </p:nvSpPr>
        <p:spPr>
          <a:xfrm rot="119100">
            <a:off x="16302990" y="7348852"/>
            <a:ext cx="733558" cy="0"/>
          </a:xfrm>
          <a:prstGeom prst="line">
            <a:avLst/>
          </a:prstGeom>
          <a:ln cap="rnd" w="19050">
            <a:solidFill>
              <a:srgbClr val="F3EEE1">
                <a:alpha val="5451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5" id="75"/>
          <p:cNvGrpSpPr/>
          <p:nvPr/>
        </p:nvGrpSpPr>
        <p:grpSpPr>
          <a:xfrm rot="0">
            <a:off x="16132454" y="7022011"/>
            <a:ext cx="1080421" cy="1521724"/>
            <a:chOff x="0" y="0"/>
            <a:chExt cx="1440561" cy="202896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440561" cy="2028952"/>
            </a:xfrm>
            <a:custGeom>
              <a:avLst/>
              <a:gdLst/>
              <a:ahLst/>
              <a:cxnLst/>
              <a:rect r="r" b="b" t="t" l="l"/>
              <a:pathLst>
                <a:path h="2028952" w="1440561">
                  <a:moveTo>
                    <a:pt x="0" y="0"/>
                  </a:moveTo>
                  <a:lnTo>
                    <a:pt x="1440561" y="0"/>
                  </a:lnTo>
                  <a:lnTo>
                    <a:pt x="1440561" y="2028952"/>
                  </a:lnTo>
                  <a:lnTo>
                    <a:pt x="0" y="2028952"/>
                  </a:lnTo>
                  <a:close/>
                </a:path>
              </a:pathLst>
            </a:custGeom>
            <a:blipFill>
              <a:blip r:embed="rId16"/>
              <a:stretch>
                <a:fillRect l="-88" t="0" r="-88" b="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1159140">
            <a:off x="12793189" y="6093762"/>
            <a:ext cx="328717" cy="498053"/>
            <a:chOff x="0" y="0"/>
            <a:chExt cx="438290" cy="66407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38277" cy="664083"/>
            </a:xfrm>
            <a:custGeom>
              <a:avLst/>
              <a:gdLst/>
              <a:ahLst/>
              <a:cxnLst/>
              <a:rect r="r" b="b" t="t" l="l"/>
              <a:pathLst>
                <a:path h="664083" w="438277">
                  <a:moveTo>
                    <a:pt x="0" y="0"/>
                  </a:moveTo>
                  <a:lnTo>
                    <a:pt x="438277" y="0"/>
                  </a:lnTo>
                  <a:lnTo>
                    <a:pt x="438277" y="664083"/>
                  </a:lnTo>
                  <a:lnTo>
                    <a:pt x="0" y="664083"/>
                  </a:lnTo>
                  <a:close/>
                </a:path>
              </a:pathLst>
            </a:custGeom>
            <a:blipFill>
              <a:blip r:embed="rId17"/>
              <a:stretch>
                <a:fillRect l="-214" t="0" r="-217" b="1"/>
              </a:stretch>
            </a:blipFill>
          </p:spPr>
        </p:sp>
      </p:grpSp>
      <p:sp>
        <p:nvSpPr>
          <p:cNvPr name="TextBox 79" id="79"/>
          <p:cNvSpPr txBox="true"/>
          <p:nvPr/>
        </p:nvSpPr>
        <p:spPr>
          <a:xfrm rot="0">
            <a:off x="13099618" y="6571593"/>
            <a:ext cx="1420263" cy="36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1899" spc="32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Architecture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0938739" y="6938667"/>
            <a:ext cx="376980" cy="30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DFDF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ASR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2250141" y="7840656"/>
            <a:ext cx="473859" cy="30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DFDF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SAFE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3568201" y="8072761"/>
            <a:ext cx="624564" cy="30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DFDF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SCORE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5096153" y="7840656"/>
            <a:ext cx="355511" cy="30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DFDF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OPS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6445808" y="7027707"/>
            <a:ext cx="441493" cy="30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DFDF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CO-P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0687888" y="7316553"/>
            <a:ext cx="941642" cy="64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ASR </a:t>
            </a:r>
          </a:p>
          <a:p>
            <a:pPr algn="ctr">
              <a:lnSpc>
                <a:spcPts val="1600"/>
              </a:lnSpc>
            </a:pPr>
            <a:r>
              <a:rPr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(Hindi/English, </a:t>
            </a:r>
          </a:p>
          <a:p>
            <a:pPr algn="ctr">
              <a:lnSpc>
                <a:spcPts val="1600"/>
              </a:lnSpc>
            </a:pPr>
            <a:r>
              <a:rPr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code-mixed)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2056974" y="8216808"/>
            <a:ext cx="860184" cy="85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Independent </a:t>
            </a:r>
          </a:p>
          <a:p>
            <a:pPr algn="ctr">
              <a:lnSpc>
                <a:spcPts val="1600"/>
              </a:lnSpc>
            </a:pPr>
            <a:r>
              <a:rPr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Safety Engine </a:t>
            </a:r>
          </a:p>
          <a:p>
            <a:pPr algn="ctr">
              <a:lnSpc>
                <a:spcPts val="1600"/>
              </a:lnSpc>
            </a:pPr>
            <a:r>
              <a:rPr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bypasses</a:t>
            </a:r>
          </a:p>
          <a:p>
            <a:pPr algn="ctr">
              <a:lnSpc>
                <a:spcPts val="1600"/>
              </a:lnSpc>
            </a:pPr>
            <a:r>
              <a:rPr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scoring.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3395931" y="8389772"/>
            <a:ext cx="950881" cy="85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Confidence-</a:t>
            </a:r>
          </a:p>
          <a:p>
            <a:pPr algn="ctr">
              <a:lnSpc>
                <a:spcPts val="1600"/>
              </a:lnSpc>
            </a:pPr>
            <a:r>
              <a:rPr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aware </a:t>
            </a:r>
          </a:p>
          <a:p>
            <a:pPr algn="ctr">
              <a:lnSpc>
                <a:spcPts val="1600"/>
              </a:lnSpc>
            </a:pPr>
            <a:r>
              <a:rPr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Priority Score</a:t>
            </a:r>
          </a:p>
          <a:p>
            <a:pPr algn="ctr">
              <a:lnSpc>
                <a:spcPts val="1600"/>
              </a:lnSpc>
            </a:pPr>
            <a:r>
              <a:rPr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(Low→Urgent)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4915750" y="8195958"/>
            <a:ext cx="738368" cy="85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Operator </a:t>
            </a:r>
          </a:p>
          <a:p>
            <a:pPr algn="ctr">
              <a:lnSpc>
                <a:spcPts val="1600"/>
              </a:lnSpc>
            </a:pPr>
            <a:r>
              <a:rPr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 </a:t>
            </a:r>
          </a:p>
          <a:p>
            <a:pPr algn="ctr">
              <a:lnSpc>
                <a:spcPts val="1600"/>
              </a:lnSpc>
            </a:pPr>
            <a:r>
              <a:rPr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evidence </a:t>
            </a:r>
          </a:p>
          <a:p>
            <a:pPr algn="ctr">
              <a:lnSpc>
                <a:spcPts val="1600"/>
              </a:lnSpc>
            </a:pPr>
            <a:r>
              <a:rPr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override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6241211" y="7353614"/>
            <a:ext cx="807349" cy="85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Template-</a:t>
            </a:r>
          </a:p>
          <a:p>
            <a:pPr algn="ctr">
              <a:lnSpc>
                <a:spcPts val="1600"/>
              </a:lnSpc>
            </a:pPr>
            <a:r>
              <a:rPr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constrained</a:t>
            </a:r>
          </a:p>
          <a:p>
            <a:pPr algn="ctr">
              <a:lnSpc>
                <a:spcPts val="1600"/>
              </a:lnSpc>
            </a:pPr>
            <a:r>
              <a:rPr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Co-Pilot </a:t>
            </a:r>
          </a:p>
          <a:p>
            <a:pPr algn="ctr">
              <a:lnSpc>
                <a:spcPts val="1600"/>
              </a:lnSpc>
            </a:pPr>
            <a:r>
              <a:rPr lang="en-US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(reword only)</a:t>
            </a:r>
          </a:p>
        </p:txBody>
      </p:sp>
      <p:grpSp>
        <p:nvGrpSpPr>
          <p:cNvPr name="Group 90" id="90"/>
          <p:cNvGrpSpPr/>
          <p:nvPr/>
        </p:nvGrpSpPr>
        <p:grpSpPr>
          <a:xfrm rot="9362760">
            <a:off x="14500860" y="6171105"/>
            <a:ext cx="237468" cy="445275"/>
            <a:chOff x="0" y="0"/>
            <a:chExt cx="316624" cy="5937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16611" cy="593725"/>
            </a:xfrm>
            <a:custGeom>
              <a:avLst/>
              <a:gdLst/>
              <a:ahLst/>
              <a:cxnLst/>
              <a:rect r="r" b="b" t="t" l="l"/>
              <a:pathLst>
                <a:path h="593725" w="316611">
                  <a:moveTo>
                    <a:pt x="0" y="0"/>
                  </a:moveTo>
                  <a:lnTo>
                    <a:pt x="316611" y="0"/>
                  </a:lnTo>
                  <a:lnTo>
                    <a:pt x="316611" y="593725"/>
                  </a:lnTo>
                  <a:lnTo>
                    <a:pt x="0" y="593725"/>
                  </a:lnTo>
                  <a:close/>
                </a:path>
              </a:pathLst>
            </a:custGeom>
            <a:blipFill>
              <a:blip r:embed="rId17"/>
              <a:stretch>
                <a:fillRect l="-12141" t="0" r="-12150" b="4"/>
              </a:stretch>
            </a:blipFill>
          </p:spPr>
        </p:sp>
      </p:grpSp>
      <p:sp>
        <p:nvSpPr>
          <p:cNvPr name="TextBox 92" id="92"/>
          <p:cNvSpPr txBox="true"/>
          <p:nvPr/>
        </p:nvSpPr>
        <p:spPr>
          <a:xfrm rot="0">
            <a:off x="1555471" y="1365990"/>
            <a:ext cx="6120975" cy="664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sz="3300" spc="151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Proposed Solution / Approach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5204650" y="88392"/>
            <a:ext cx="1761649" cy="732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0"/>
              </a:lnSpc>
            </a:pPr>
            <a:r>
              <a:rPr lang="en-US" sz="36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SAATHI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3263465" y="738445"/>
            <a:ext cx="4289574" cy="386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b="true" sz="1800" i="true">
                <a:solidFill>
                  <a:srgbClr val="0B5D68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Safety-First AI TriageforNHAA(14566)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7630354" y="738445"/>
            <a:ext cx="1461173" cy="386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800" i="true">
                <a:solidFill>
                  <a:srgbClr val="44505C"/>
                </a:solidFill>
                <a:latin typeface="Arial Italics"/>
                <a:ea typeface="Arial Italics"/>
                <a:cs typeface="Arial Italics"/>
                <a:sym typeface="Arial Italics"/>
              </a:rPr>
              <a:t> — SIH26093</a:t>
            </a:r>
          </a:p>
        </p:txBody>
      </p:sp>
      <p:grpSp>
        <p:nvGrpSpPr>
          <p:cNvPr name="Group 96" id="96"/>
          <p:cNvGrpSpPr/>
          <p:nvPr/>
        </p:nvGrpSpPr>
        <p:grpSpPr>
          <a:xfrm rot="0">
            <a:off x="10162642" y="1198131"/>
            <a:ext cx="7887481" cy="4925425"/>
            <a:chOff x="0" y="0"/>
            <a:chExt cx="10516641" cy="6567234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516616" cy="6567170"/>
            </a:xfrm>
            <a:custGeom>
              <a:avLst/>
              <a:gdLst/>
              <a:ahLst/>
              <a:cxnLst/>
              <a:rect r="r" b="b" t="t" l="l"/>
              <a:pathLst>
                <a:path h="6567170" w="10516616">
                  <a:moveTo>
                    <a:pt x="0" y="0"/>
                  </a:moveTo>
                  <a:lnTo>
                    <a:pt x="10516616" y="0"/>
                  </a:lnTo>
                  <a:lnTo>
                    <a:pt x="10516616" y="6567170"/>
                  </a:lnTo>
                  <a:lnTo>
                    <a:pt x="0" y="6567170"/>
                  </a:lnTo>
                  <a:close/>
                </a:path>
              </a:pathLst>
            </a:custGeom>
            <a:blipFill>
              <a:blip r:embed="rId18"/>
              <a:stretch>
                <a:fillRect l="0" t="-10034" r="0" b="-10035"/>
              </a:stretch>
            </a:blipFill>
          </p:spPr>
        </p:sp>
      </p:grpSp>
      <p:sp>
        <p:nvSpPr>
          <p:cNvPr name="TextBox 98" id="98"/>
          <p:cNvSpPr txBox="true"/>
          <p:nvPr/>
        </p:nvSpPr>
        <p:spPr>
          <a:xfrm rot="0">
            <a:off x="12456414" y="919658"/>
            <a:ext cx="3299936" cy="382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8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SAATHI end-to-end workflow</a:t>
            </a:r>
          </a:p>
        </p:txBody>
      </p:sp>
      <p:grpSp>
        <p:nvGrpSpPr>
          <p:cNvPr name="Group 99" id="99"/>
          <p:cNvGrpSpPr/>
          <p:nvPr/>
        </p:nvGrpSpPr>
        <p:grpSpPr>
          <a:xfrm rot="0">
            <a:off x="27394" y="-49873"/>
            <a:ext cx="1090489" cy="1161507"/>
            <a:chOff x="0" y="0"/>
            <a:chExt cx="1453985" cy="1548676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454023" cy="1548638"/>
            </a:xfrm>
            <a:custGeom>
              <a:avLst/>
              <a:gdLst/>
              <a:ahLst/>
              <a:cxnLst/>
              <a:rect r="r" b="b" t="t" l="l"/>
              <a:pathLst>
                <a:path h="1548638" w="1454023">
                  <a:moveTo>
                    <a:pt x="0" y="0"/>
                  </a:moveTo>
                  <a:lnTo>
                    <a:pt x="1454023" y="0"/>
                  </a:lnTo>
                  <a:lnTo>
                    <a:pt x="1454023" y="1548638"/>
                  </a:lnTo>
                  <a:lnTo>
                    <a:pt x="0" y="1548638"/>
                  </a:lnTo>
                  <a:close/>
                </a:path>
              </a:pathLst>
            </a:custGeom>
            <a:blipFill>
              <a:blip r:embed="rId19"/>
              <a:stretch>
                <a:fillRect l="-3256" t="0" r="-3253" b="-2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5749502" y="-6353"/>
            <a:ext cx="2375183" cy="1127503"/>
            <a:chOff x="0" y="0"/>
            <a:chExt cx="3166910" cy="1503337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66872" cy="1503299"/>
            </a:xfrm>
            <a:custGeom>
              <a:avLst/>
              <a:gdLst/>
              <a:ahLst/>
              <a:cxnLst/>
              <a:rect r="r" b="b" t="t" l="l"/>
              <a:pathLst>
                <a:path h="1503299" w="3166872">
                  <a:moveTo>
                    <a:pt x="0" y="0"/>
                  </a:moveTo>
                  <a:lnTo>
                    <a:pt x="3166872" y="0"/>
                  </a:lnTo>
                  <a:lnTo>
                    <a:pt x="3166872" y="1503299"/>
                  </a:lnTo>
                  <a:lnTo>
                    <a:pt x="0" y="1503299"/>
                  </a:lnTo>
                  <a:close/>
                </a:path>
              </a:pathLst>
            </a:custGeom>
            <a:blipFill>
              <a:blip r:embed="rId20"/>
              <a:stretch>
                <a:fillRect l="-291" t="0" r="-292" b="-2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-6353" y="9706737"/>
            <a:ext cx="18300573" cy="586616"/>
            <a:chOff x="0" y="0"/>
            <a:chExt cx="24400764" cy="782155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4400763" cy="782193"/>
            </a:xfrm>
            <a:custGeom>
              <a:avLst/>
              <a:gdLst/>
              <a:ahLst/>
              <a:cxnLst/>
              <a:rect r="r" b="b" t="t" l="l"/>
              <a:pathLst>
                <a:path h="782193" w="24400763">
                  <a:moveTo>
                    <a:pt x="0" y="0"/>
                  </a:moveTo>
                  <a:lnTo>
                    <a:pt x="24400763" y="0"/>
                  </a:lnTo>
                  <a:lnTo>
                    <a:pt x="24400763" y="782193"/>
                  </a:lnTo>
                  <a:lnTo>
                    <a:pt x="0" y="782193"/>
                  </a:lnTo>
                  <a:close/>
                </a:path>
              </a:pathLst>
            </a:custGeom>
            <a:solidFill>
              <a:srgbClr val="006FBF"/>
            </a:solidFill>
          </p:spPr>
        </p:sp>
      </p:grpSp>
      <p:sp>
        <p:nvSpPr>
          <p:cNvPr name="TextBox 105" id="105"/>
          <p:cNvSpPr txBox="true"/>
          <p:nvPr/>
        </p:nvSpPr>
        <p:spPr>
          <a:xfrm rot="0">
            <a:off x="7424861" y="9740503"/>
            <a:ext cx="4445756" cy="37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1800" spc="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@SIH Idea Submission—NeuroNex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7214914" y="9733759"/>
            <a:ext cx="827094" cy="37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39733" y="7624096"/>
            <a:ext cx="5323037" cy="2404672"/>
            <a:chOff x="0" y="0"/>
            <a:chExt cx="7097382" cy="32062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97395" cy="3206242"/>
            </a:xfrm>
            <a:custGeom>
              <a:avLst/>
              <a:gdLst/>
              <a:ahLst/>
              <a:cxnLst/>
              <a:rect r="r" b="b" t="t" l="l"/>
              <a:pathLst>
                <a:path h="3206242" w="7097395">
                  <a:moveTo>
                    <a:pt x="0" y="0"/>
                  </a:moveTo>
                  <a:lnTo>
                    <a:pt x="7097395" y="0"/>
                  </a:lnTo>
                  <a:lnTo>
                    <a:pt x="7097395" y="3206242"/>
                  </a:lnTo>
                  <a:lnTo>
                    <a:pt x="0" y="3206242"/>
                  </a:lnTo>
                  <a:close/>
                </a:path>
              </a:pathLst>
            </a:custGeom>
            <a:blipFill>
              <a:blip r:embed="rId2"/>
              <a:stretch>
                <a:fillRect l="0" t="-23753" r="0" b="-2375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751737" y="1606920"/>
            <a:ext cx="5298538" cy="7836379"/>
            <a:chOff x="0" y="0"/>
            <a:chExt cx="7709675" cy="114023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709662" cy="11402314"/>
            </a:xfrm>
            <a:custGeom>
              <a:avLst/>
              <a:gdLst/>
              <a:ahLst/>
              <a:cxnLst/>
              <a:rect r="r" b="b" t="t" l="l"/>
              <a:pathLst>
                <a:path h="11402314" w="7709662">
                  <a:moveTo>
                    <a:pt x="0" y="0"/>
                  </a:moveTo>
                  <a:lnTo>
                    <a:pt x="7709662" y="0"/>
                  </a:lnTo>
                  <a:lnTo>
                    <a:pt x="7709662" y="11402314"/>
                  </a:lnTo>
                  <a:lnTo>
                    <a:pt x="0" y="11402314"/>
                  </a:lnTo>
                  <a:close/>
                </a:path>
              </a:pathLst>
            </a:custGeom>
            <a:blipFill>
              <a:blip r:embed="rId3"/>
              <a:stretch>
                <a:fillRect l="0" t="-711" r="0" b="-71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595970" y="896019"/>
            <a:ext cx="13347706" cy="6888470"/>
            <a:chOff x="0" y="0"/>
            <a:chExt cx="17796942" cy="91846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796890" cy="9184640"/>
            </a:xfrm>
            <a:custGeom>
              <a:avLst/>
              <a:gdLst/>
              <a:ahLst/>
              <a:cxnLst/>
              <a:rect r="r" b="b" t="t" l="l"/>
              <a:pathLst>
                <a:path h="9184640" w="17796890">
                  <a:moveTo>
                    <a:pt x="0" y="0"/>
                  </a:moveTo>
                  <a:lnTo>
                    <a:pt x="17796890" y="0"/>
                  </a:lnTo>
                  <a:lnTo>
                    <a:pt x="17796890" y="9184640"/>
                  </a:lnTo>
                  <a:lnTo>
                    <a:pt x="0" y="9184640"/>
                  </a:lnTo>
                  <a:close/>
                </a:path>
              </a:pathLst>
            </a:custGeom>
            <a:blipFill>
              <a:blip r:embed="rId4"/>
              <a:stretch>
                <a:fillRect l="0" t="-3163" r="0" b="-3163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424861" y="9740503"/>
            <a:ext cx="3776710" cy="37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1800" spc="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SMART INDIA HACKATHON 2025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14914" y="9733759"/>
            <a:ext cx="139875" cy="37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7394" y="-49873"/>
            <a:ext cx="1090489" cy="1161507"/>
            <a:chOff x="0" y="0"/>
            <a:chExt cx="1453985" cy="15486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54023" cy="1548638"/>
            </a:xfrm>
            <a:custGeom>
              <a:avLst/>
              <a:gdLst/>
              <a:ahLst/>
              <a:cxnLst/>
              <a:rect r="r" b="b" t="t" l="l"/>
              <a:pathLst>
                <a:path h="1548638" w="1454023">
                  <a:moveTo>
                    <a:pt x="0" y="0"/>
                  </a:moveTo>
                  <a:lnTo>
                    <a:pt x="1454023" y="0"/>
                  </a:lnTo>
                  <a:lnTo>
                    <a:pt x="1454023" y="1548638"/>
                  </a:lnTo>
                  <a:lnTo>
                    <a:pt x="0" y="1548638"/>
                  </a:lnTo>
                  <a:close/>
                </a:path>
              </a:pathLst>
            </a:custGeom>
            <a:blipFill>
              <a:blip r:embed="rId5"/>
              <a:stretch>
                <a:fillRect l="-3256" t="0" r="-3253" b="-2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749502" y="-6353"/>
            <a:ext cx="2375183" cy="1127503"/>
            <a:chOff x="0" y="0"/>
            <a:chExt cx="3166910" cy="15033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66872" cy="1503299"/>
            </a:xfrm>
            <a:custGeom>
              <a:avLst/>
              <a:gdLst/>
              <a:ahLst/>
              <a:cxnLst/>
              <a:rect r="r" b="b" t="t" l="l"/>
              <a:pathLst>
                <a:path h="1503299" w="3166872">
                  <a:moveTo>
                    <a:pt x="0" y="0"/>
                  </a:moveTo>
                  <a:lnTo>
                    <a:pt x="3166872" y="0"/>
                  </a:lnTo>
                  <a:lnTo>
                    <a:pt x="3166872" y="1503299"/>
                  </a:lnTo>
                  <a:lnTo>
                    <a:pt x="0" y="1503299"/>
                  </a:lnTo>
                  <a:close/>
                </a:path>
              </a:pathLst>
            </a:custGeom>
            <a:blipFill>
              <a:blip r:embed="rId6"/>
              <a:stretch>
                <a:fillRect l="-291" t="0" r="-292" b="-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6286" y="9793329"/>
            <a:ext cx="18300573" cy="586616"/>
            <a:chOff x="0" y="0"/>
            <a:chExt cx="24400764" cy="78215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400763" cy="782193"/>
            </a:xfrm>
            <a:custGeom>
              <a:avLst/>
              <a:gdLst/>
              <a:ahLst/>
              <a:cxnLst/>
              <a:rect r="r" b="b" t="t" l="l"/>
              <a:pathLst>
                <a:path h="782193" w="24400763">
                  <a:moveTo>
                    <a:pt x="0" y="0"/>
                  </a:moveTo>
                  <a:lnTo>
                    <a:pt x="24400763" y="0"/>
                  </a:lnTo>
                  <a:lnTo>
                    <a:pt x="24400763" y="782193"/>
                  </a:lnTo>
                  <a:lnTo>
                    <a:pt x="0" y="782193"/>
                  </a:lnTo>
                  <a:close/>
                </a:path>
              </a:pathLst>
            </a:custGeom>
            <a:solidFill>
              <a:srgbClr val="006FB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5977242" y="-30347"/>
            <a:ext cx="5995521" cy="781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39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TECHNICAL APPROACH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341920" y="9871920"/>
            <a:ext cx="538753" cy="37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24861" y="9740503"/>
            <a:ext cx="4445756" cy="37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1800" spc="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@SIH Idea Submission—NeuroNex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856" y="928306"/>
            <a:ext cx="18322423" cy="8601008"/>
            <a:chOff x="0" y="0"/>
            <a:chExt cx="24429898" cy="114680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9847" cy="11467973"/>
            </a:xfrm>
            <a:custGeom>
              <a:avLst/>
              <a:gdLst/>
              <a:ahLst/>
              <a:cxnLst/>
              <a:rect r="r" b="b" t="t" l="l"/>
              <a:pathLst>
                <a:path h="11467973" w="24429847">
                  <a:moveTo>
                    <a:pt x="0" y="0"/>
                  </a:moveTo>
                  <a:lnTo>
                    <a:pt x="24429847" y="0"/>
                  </a:lnTo>
                  <a:lnTo>
                    <a:pt x="24429847" y="11467973"/>
                  </a:lnTo>
                  <a:lnTo>
                    <a:pt x="0" y="11467973"/>
                  </a:lnTo>
                  <a:close/>
                </a:path>
              </a:pathLst>
            </a:custGeom>
            <a:blipFill>
              <a:blip r:embed="rId2"/>
              <a:stretch>
                <a:fillRect l="0" t="-597" r="0" b="-597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26231" y="5642439"/>
            <a:ext cx="2302259" cy="2302516"/>
          </a:xfrm>
          <a:custGeom>
            <a:avLst/>
            <a:gdLst/>
            <a:ahLst/>
            <a:cxnLst/>
            <a:rect r="r" b="b" t="t" l="l"/>
            <a:pathLst>
              <a:path h="2302516" w="2302259">
                <a:moveTo>
                  <a:pt x="0" y="0"/>
                </a:moveTo>
                <a:lnTo>
                  <a:pt x="2302259" y="0"/>
                </a:lnTo>
                <a:lnTo>
                  <a:pt x="2302259" y="2302516"/>
                </a:lnTo>
                <a:lnTo>
                  <a:pt x="0" y="23025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90077" y="4345238"/>
            <a:ext cx="523751" cy="523751"/>
          </a:xfrm>
          <a:custGeom>
            <a:avLst/>
            <a:gdLst/>
            <a:ahLst/>
            <a:cxnLst/>
            <a:rect r="r" b="b" t="t" l="l"/>
            <a:pathLst>
              <a:path h="523751" w="523751">
                <a:moveTo>
                  <a:pt x="0" y="0"/>
                </a:moveTo>
                <a:lnTo>
                  <a:pt x="523751" y="0"/>
                </a:lnTo>
                <a:lnTo>
                  <a:pt x="523751" y="523752"/>
                </a:lnTo>
                <a:lnTo>
                  <a:pt x="0" y="523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32627" y="5613464"/>
            <a:ext cx="105194" cy="105194"/>
            <a:chOff x="0" y="0"/>
            <a:chExt cx="140259" cy="1402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0208" cy="140208"/>
            </a:xfrm>
            <a:custGeom>
              <a:avLst/>
              <a:gdLst/>
              <a:ahLst/>
              <a:cxnLst/>
              <a:rect r="r" b="b" t="t" l="l"/>
              <a:pathLst>
                <a:path h="140208" w="140208">
                  <a:moveTo>
                    <a:pt x="0" y="0"/>
                  </a:moveTo>
                  <a:lnTo>
                    <a:pt x="140208" y="0"/>
                  </a:lnTo>
                  <a:lnTo>
                    <a:pt x="140208" y="140208"/>
                  </a:lnTo>
                  <a:lnTo>
                    <a:pt x="0" y="140208"/>
                  </a:lnTo>
                  <a:close/>
                </a:path>
              </a:pathLst>
            </a:custGeom>
            <a:blipFill>
              <a:blip r:embed="rId7"/>
              <a:stretch>
                <a:fillRect l="0" t="0" r="-36" b="-3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616689" y="6709886"/>
            <a:ext cx="103861" cy="103861"/>
            <a:chOff x="0" y="0"/>
            <a:chExt cx="138481" cy="1384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8430" cy="138430"/>
            </a:xfrm>
            <a:custGeom>
              <a:avLst/>
              <a:gdLst/>
              <a:ahLst/>
              <a:cxnLst/>
              <a:rect r="r" b="b" t="t" l="l"/>
              <a:pathLst>
                <a:path h="138430" w="138430">
                  <a:moveTo>
                    <a:pt x="0" y="0"/>
                  </a:moveTo>
                  <a:lnTo>
                    <a:pt x="138430" y="0"/>
                  </a:lnTo>
                  <a:lnTo>
                    <a:pt x="138430" y="138430"/>
                  </a:lnTo>
                  <a:lnTo>
                    <a:pt x="0" y="138430"/>
                  </a:lnTo>
                  <a:close/>
                </a:path>
              </a:pathLst>
            </a:custGeom>
            <a:blipFill>
              <a:blip r:embed="rId8"/>
              <a:stretch>
                <a:fillRect l="0" t="0" r="-36" b="-3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443582" y="7323030"/>
            <a:ext cx="105194" cy="105194"/>
            <a:chOff x="0" y="0"/>
            <a:chExt cx="140259" cy="1402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0208" cy="140208"/>
            </a:xfrm>
            <a:custGeom>
              <a:avLst/>
              <a:gdLst/>
              <a:ahLst/>
              <a:cxnLst/>
              <a:rect r="r" b="b" t="t" l="l"/>
              <a:pathLst>
                <a:path h="140208" w="140208">
                  <a:moveTo>
                    <a:pt x="0" y="0"/>
                  </a:moveTo>
                  <a:lnTo>
                    <a:pt x="140208" y="0"/>
                  </a:lnTo>
                  <a:lnTo>
                    <a:pt x="140208" y="140208"/>
                  </a:lnTo>
                  <a:lnTo>
                    <a:pt x="0" y="140208"/>
                  </a:lnTo>
                  <a:close/>
                </a:path>
              </a:pathLst>
            </a:custGeom>
            <a:blipFill>
              <a:blip r:embed="rId7"/>
              <a:stretch>
                <a:fillRect l="0" t="0" r="-36" b="-36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11312" y="4878572"/>
            <a:ext cx="6255477" cy="2280323"/>
            <a:chOff x="0" y="0"/>
            <a:chExt cx="8340636" cy="30404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340598" cy="3040380"/>
            </a:xfrm>
            <a:custGeom>
              <a:avLst/>
              <a:gdLst/>
              <a:ahLst/>
              <a:cxnLst/>
              <a:rect r="r" b="b" t="t" l="l"/>
              <a:pathLst>
                <a:path h="3040380" w="8340598">
                  <a:moveTo>
                    <a:pt x="0" y="0"/>
                  </a:moveTo>
                  <a:lnTo>
                    <a:pt x="8340598" y="0"/>
                  </a:lnTo>
                  <a:lnTo>
                    <a:pt x="8340598" y="3040380"/>
                  </a:lnTo>
                  <a:lnTo>
                    <a:pt x="0" y="3040380"/>
                  </a:lnTo>
                  <a:close/>
                </a:path>
              </a:pathLst>
            </a:custGeom>
            <a:blipFill>
              <a:blip r:embed="rId9"/>
              <a:stretch>
                <a:fillRect l="-97" t="0" r="-98" b="-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06386" y="3885305"/>
            <a:ext cx="158753" cy="5629904"/>
            <a:chOff x="0" y="0"/>
            <a:chExt cx="211671" cy="75065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1709" cy="7506589"/>
            </a:xfrm>
            <a:custGeom>
              <a:avLst/>
              <a:gdLst/>
              <a:ahLst/>
              <a:cxnLst/>
              <a:rect r="r" b="b" t="t" l="l"/>
              <a:pathLst>
                <a:path h="7506589" w="211709">
                  <a:moveTo>
                    <a:pt x="0" y="0"/>
                  </a:moveTo>
                  <a:lnTo>
                    <a:pt x="211709" y="0"/>
                  </a:lnTo>
                  <a:lnTo>
                    <a:pt x="211709" y="7506589"/>
                  </a:lnTo>
                  <a:lnTo>
                    <a:pt x="0" y="7506589"/>
                  </a:lnTo>
                  <a:close/>
                </a:path>
              </a:pathLst>
            </a:custGeom>
            <a:blipFill>
              <a:blip r:embed="rId10"/>
              <a:stretch>
                <a:fillRect l="0" t="-1930" r="17" b="-1929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5650966" y="5642439"/>
            <a:ext cx="2302259" cy="2302516"/>
          </a:xfrm>
          <a:custGeom>
            <a:avLst/>
            <a:gdLst/>
            <a:ahLst/>
            <a:cxnLst/>
            <a:rect r="r" b="b" t="t" l="l"/>
            <a:pathLst>
              <a:path h="2302516" w="2302259">
                <a:moveTo>
                  <a:pt x="0" y="0"/>
                </a:moveTo>
                <a:lnTo>
                  <a:pt x="2302259" y="0"/>
                </a:lnTo>
                <a:lnTo>
                  <a:pt x="2302259" y="2302516"/>
                </a:lnTo>
                <a:lnTo>
                  <a:pt x="0" y="230251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6371922" y="5843930"/>
            <a:ext cx="860431" cy="889006"/>
            <a:chOff x="0" y="0"/>
            <a:chExt cx="1147242" cy="118534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47191" cy="1185291"/>
            </a:xfrm>
            <a:custGeom>
              <a:avLst/>
              <a:gdLst/>
              <a:ahLst/>
              <a:cxnLst/>
              <a:rect r="r" b="b" t="t" l="l"/>
              <a:pathLst>
                <a:path h="1185291" w="1147191">
                  <a:moveTo>
                    <a:pt x="0" y="0"/>
                  </a:moveTo>
                  <a:lnTo>
                    <a:pt x="1147191" y="0"/>
                  </a:lnTo>
                  <a:lnTo>
                    <a:pt x="1147191" y="1185291"/>
                  </a:lnTo>
                  <a:lnTo>
                    <a:pt x="0" y="1185291"/>
                  </a:lnTo>
                  <a:close/>
                </a:path>
              </a:pathLst>
            </a:custGeom>
            <a:blipFill>
              <a:blip r:embed="rId13"/>
              <a:stretch>
                <a:fillRect l="0" t="-200" r="-4" b="-203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398004" y="6072645"/>
            <a:ext cx="103861" cy="103861"/>
            <a:chOff x="0" y="0"/>
            <a:chExt cx="138481" cy="13848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8430" cy="138430"/>
            </a:xfrm>
            <a:custGeom>
              <a:avLst/>
              <a:gdLst/>
              <a:ahLst/>
              <a:cxnLst/>
              <a:rect r="r" b="b" t="t" l="l"/>
              <a:pathLst>
                <a:path h="138430" w="138430">
                  <a:moveTo>
                    <a:pt x="0" y="0"/>
                  </a:moveTo>
                  <a:lnTo>
                    <a:pt x="138430" y="0"/>
                  </a:lnTo>
                  <a:lnTo>
                    <a:pt x="138430" y="138430"/>
                  </a:lnTo>
                  <a:lnTo>
                    <a:pt x="0" y="138430"/>
                  </a:lnTo>
                  <a:close/>
                </a:path>
              </a:pathLst>
            </a:custGeom>
            <a:blipFill>
              <a:blip r:embed="rId8"/>
              <a:stretch>
                <a:fillRect l="0" t="0" r="-36" b="-36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544145" y="4516622"/>
            <a:ext cx="464953" cy="1173232"/>
          </a:xfrm>
          <a:custGeom>
            <a:avLst/>
            <a:gdLst/>
            <a:ahLst/>
            <a:cxnLst/>
            <a:rect r="r" b="b" t="t" l="l"/>
            <a:pathLst>
              <a:path h="1173232" w="464953">
                <a:moveTo>
                  <a:pt x="0" y="0"/>
                </a:moveTo>
                <a:lnTo>
                  <a:pt x="464954" y="0"/>
                </a:lnTo>
                <a:lnTo>
                  <a:pt x="464954" y="1173232"/>
                </a:lnTo>
                <a:lnTo>
                  <a:pt x="0" y="117323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009127" y="8615753"/>
            <a:ext cx="504701" cy="523751"/>
          </a:xfrm>
          <a:custGeom>
            <a:avLst/>
            <a:gdLst/>
            <a:ahLst/>
            <a:cxnLst/>
            <a:rect r="r" b="b" t="t" l="l"/>
            <a:pathLst>
              <a:path h="523751" w="504701">
                <a:moveTo>
                  <a:pt x="0" y="0"/>
                </a:moveTo>
                <a:lnTo>
                  <a:pt x="504701" y="0"/>
                </a:lnTo>
                <a:lnTo>
                  <a:pt x="504701" y="523751"/>
                </a:lnTo>
                <a:lnTo>
                  <a:pt x="0" y="52375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459660" y="7421861"/>
            <a:ext cx="851668" cy="672465"/>
          </a:xfrm>
          <a:custGeom>
            <a:avLst/>
            <a:gdLst/>
            <a:ahLst/>
            <a:cxnLst/>
            <a:rect r="r" b="b" t="t" l="l"/>
            <a:pathLst>
              <a:path h="672465" w="851668">
                <a:moveTo>
                  <a:pt x="0" y="0"/>
                </a:moveTo>
                <a:lnTo>
                  <a:pt x="851668" y="0"/>
                </a:lnTo>
                <a:lnTo>
                  <a:pt x="851668" y="672465"/>
                </a:lnTo>
                <a:lnTo>
                  <a:pt x="0" y="67246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438810" y="5361003"/>
            <a:ext cx="927106" cy="717299"/>
          </a:xfrm>
          <a:custGeom>
            <a:avLst/>
            <a:gdLst/>
            <a:ahLst/>
            <a:cxnLst/>
            <a:rect r="r" b="b" t="t" l="l"/>
            <a:pathLst>
              <a:path h="717299" w="927106">
                <a:moveTo>
                  <a:pt x="0" y="0"/>
                </a:moveTo>
                <a:lnTo>
                  <a:pt x="927106" y="0"/>
                </a:lnTo>
                <a:lnTo>
                  <a:pt x="927106" y="717300"/>
                </a:lnTo>
                <a:lnTo>
                  <a:pt x="0" y="7173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701490" y="6518986"/>
            <a:ext cx="989209" cy="511054"/>
          </a:xfrm>
          <a:custGeom>
            <a:avLst/>
            <a:gdLst/>
            <a:ahLst/>
            <a:cxnLst/>
            <a:rect r="r" b="b" t="t" l="l"/>
            <a:pathLst>
              <a:path h="511054" w="989209">
                <a:moveTo>
                  <a:pt x="0" y="0"/>
                </a:moveTo>
                <a:lnTo>
                  <a:pt x="989209" y="0"/>
                </a:lnTo>
                <a:lnTo>
                  <a:pt x="989209" y="511055"/>
                </a:lnTo>
                <a:lnTo>
                  <a:pt x="0" y="51105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451677" y="7903140"/>
            <a:ext cx="104813" cy="104813"/>
            <a:chOff x="0" y="0"/>
            <a:chExt cx="139751" cy="13975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9700" cy="139700"/>
            </a:xfrm>
            <a:custGeom>
              <a:avLst/>
              <a:gdLst/>
              <a:ahLst/>
              <a:cxnLst/>
              <a:rect r="r" b="b" t="t" l="l"/>
              <a:pathLst>
                <a:path h="139700" w="139700">
                  <a:moveTo>
                    <a:pt x="0" y="0"/>
                  </a:moveTo>
                  <a:lnTo>
                    <a:pt x="139700" y="0"/>
                  </a:lnTo>
                  <a:lnTo>
                    <a:pt x="139700" y="139700"/>
                  </a:lnTo>
                  <a:lnTo>
                    <a:pt x="0" y="139700"/>
                  </a:lnTo>
                  <a:close/>
                </a:path>
              </a:pathLst>
            </a:custGeom>
            <a:blipFill>
              <a:blip r:embed="rId24"/>
              <a:stretch>
                <a:fillRect l="0" t="0" r="-36" b="-35"/>
              </a:stretch>
            </a:blip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1550337" y="7931715"/>
            <a:ext cx="465201" cy="1036330"/>
          </a:xfrm>
          <a:custGeom>
            <a:avLst/>
            <a:gdLst/>
            <a:ahLst/>
            <a:cxnLst/>
            <a:rect r="r" b="b" t="t" l="l"/>
            <a:pathLst>
              <a:path h="1036330" w="465201">
                <a:moveTo>
                  <a:pt x="0" y="0"/>
                </a:moveTo>
                <a:lnTo>
                  <a:pt x="465201" y="0"/>
                </a:lnTo>
                <a:lnTo>
                  <a:pt x="465201" y="1036330"/>
                </a:lnTo>
                <a:lnTo>
                  <a:pt x="0" y="103633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5801870" y="4340400"/>
            <a:ext cx="523618" cy="523751"/>
          </a:xfrm>
          <a:custGeom>
            <a:avLst/>
            <a:gdLst/>
            <a:ahLst/>
            <a:cxnLst/>
            <a:rect r="r" b="b" t="t" l="l"/>
            <a:pathLst>
              <a:path h="523751" w="523618">
                <a:moveTo>
                  <a:pt x="0" y="0"/>
                </a:moveTo>
                <a:lnTo>
                  <a:pt x="523618" y="0"/>
                </a:lnTo>
                <a:lnTo>
                  <a:pt x="523618" y="523751"/>
                </a:lnTo>
                <a:lnTo>
                  <a:pt x="0" y="523751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6749522" y="5560457"/>
            <a:ext cx="104813" cy="2495112"/>
            <a:chOff x="0" y="0"/>
            <a:chExt cx="139751" cy="33268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9700" cy="3326765"/>
            </a:xfrm>
            <a:custGeom>
              <a:avLst/>
              <a:gdLst/>
              <a:ahLst/>
              <a:cxnLst/>
              <a:rect r="r" b="b" t="t" l="l"/>
              <a:pathLst>
                <a:path h="3326765" w="139700">
                  <a:moveTo>
                    <a:pt x="0" y="0"/>
                  </a:moveTo>
                  <a:lnTo>
                    <a:pt x="139700" y="0"/>
                  </a:lnTo>
                  <a:lnTo>
                    <a:pt x="139700" y="3326765"/>
                  </a:lnTo>
                  <a:lnTo>
                    <a:pt x="0" y="3326765"/>
                  </a:lnTo>
                  <a:close/>
                </a:path>
              </a:pathLst>
            </a:custGeom>
            <a:blipFill>
              <a:blip r:embed="rId29"/>
              <a:stretch>
                <a:fillRect l="0" t="-3857" r="-36" b="-3859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5539780" y="6709420"/>
            <a:ext cx="104813" cy="104813"/>
            <a:chOff x="0" y="0"/>
            <a:chExt cx="139751" cy="13975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9700" cy="139700"/>
            </a:xfrm>
            <a:custGeom>
              <a:avLst/>
              <a:gdLst/>
              <a:ahLst/>
              <a:cxnLst/>
              <a:rect r="r" b="b" t="t" l="l"/>
              <a:pathLst>
                <a:path h="139700" w="139700">
                  <a:moveTo>
                    <a:pt x="0" y="0"/>
                  </a:moveTo>
                  <a:lnTo>
                    <a:pt x="139700" y="0"/>
                  </a:lnTo>
                  <a:lnTo>
                    <a:pt x="139700" y="139700"/>
                  </a:lnTo>
                  <a:lnTo>
                    <a:pt x="0" y="139700"/>
                  </a:lnTo>
                  <a:close/>
                </a:path>
              </a:pathLst>
            </a:custGeom>
            <a:blipFill>
              <a:blip r:embed="rId30"/>
              <a:stretch>
                <a:fillRect l="0" t="0" r="-36" b="-35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5793907" y="6007065"/>
            <a:ext cx="104813" cy="104813"/>
            <a:chOff x="0" y="0"/>
            <a:chExt cx="139751" cy="13975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9700" cy="139700"/>
            </a:xfrm>
            <a:custGeom>
              <a:avLst/>
              <a:gdLst/>
              <a:ahLst/>
              <a:cxnLst/>
              <a:rect r="r" b="b" t="t" l="l"/>
              <a:pathLst>
                <a:path h="139700" w="139700">
                  <a:moveTo>
                    <a:pt x="0" y="0"/>
                  </a:moveTo>
                  <a:lnTo>
                    <a:pt x="139700" y="0"/>
                  </a:lnTo>
                  <a:lnTo>
                    <a:pt x="139700" y="139700"/>
                  </a:lnTo>
                  <a:lnTo>
                    <a:pt x="0" y="139700"/>
                  </a:lnTo>
                  <a:close/>
                </a:path>
              </a:pathLst>
            </a:custGeom>
            <a:blipFill>
              <a:blip r:embed="rId31"/>
              <a:stretch>
                <a:fillRect l="0" t="0" r="-36" b="-36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5793907" y="7388342"/>
            <a:ext cx="104813" cy="104813"/>
            <a:chOff x="0" y="0"/>
            <a:chExt cx="139751" cy="13975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9700" cy="139700"/>
            </a:xfrm>
            <a:custGeom>
              <a:avLst/>
              <a:gdLst/>
              <a:ahLst/>
              <a:cxnLst/>
              <a:rect r="r" b="b" t="t" l="l"/>
              <a:pathLst>
                <a:path h="139700" w="139700">
                  <a:moveTo>
                    <a:pt x="0" y="0"/>
                  </a:moveTo>
                  <a:lnTo>
                    <a:pt x="139700" y="0"/>
                  </a:lnTo>
                  <a:lnTo>
                    <a:pt x="139700" y="139700"/>
                  </a:lnTo>
                  <a:lnTo>
                    <a:pt x="0" y="139700"/>
                  </a:lnTo>
                  <a:close/>
                </a:path>
              </a:pathLst>
            </a:custGeom>
            <a:blipFill>
              <a:blip r:embed="rId24"/>
              <a:stretch>
                <a:fillRect l="0" t="0" r="-36" b="-36"/>
              </a:stretch>
            </a:blipFill>
          </p:spPr>
        </p:sp>
      </p:grpSp>
      <p:sp>
        <p:nvSpPr>
          <p:cNvPr name="Freeform 38" id="38"/>
          <p:cNvSpPr/>
          <p:nvPr/>
        </p:nvSpPr>
        <p:spPr>
          <a:xfrm flipH="false" flipV="false" rot="0">
            <a:off x="14528416" y="6506289"/>
            <a:ext cx="1017537" cy="511054"/>
          </a:xfrm>
          <a:custGeom>
            <a:avLst/>
            <a:gdLst/>
            <a:ahLst/>
            <a:cxnLst/>
            <a:rect r="r" b="b" t="t" l="l"/>
            <a:pathLst>
              <a:path h="511054" w="1017537">
                <a:moveTo>
                  <a:pt x="0" y="0"/>
                </a:moveTo>
                <a:lnTo>
                  <a:pt x="1017537" y="0"/>
                </a:lnTo>
                <a:lnTo>
                  <a:pt x="1017537" y="511055"/>
                </a:lnTo>
                <a:lnTo>
                  <a:pt x="0" y="511055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4783924" y="7499671"/>
            <a:ext cx="1086231" cy="659006"/>
          </a:xfrm>
          <a:custGeom>
            <a:avLst/>
            <a:gdLst/>
            <a:ahLst/>
            <a:cxnLst/>
            <a:rect r="r" b="b" t="t" l="l"/>
            <a:pathLst>
              <a:path h="659006" w="1086231">
                <a:moveTo>
                  <a:pt x="0" y="0"/>
                </a:moveTo>
                <a:lnTo>
                  <a:pt x="1086231" y="0"/>
                </a:lnTo>
                <a:lnTo>
                  <a:pt x="1086231" y="659006"/>
                </a:lnTo>
                <a:lnTo>
                  <a:pt x="0" y="659006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5003847" y="5420116"/>
            <a:ext cx="866280" cy="605800"/>
          </a:xfrm>
          <a:custGeom>
            <a:avLst/>
            <a:gdLst/>
            <a:ahLst/>
            <a:cxnLst/>
            <a:rect r="r" b="b" t="t" l="l"/>
            <a:pathLst>
              <a:path h="605800" w="866280">
                <a:moveTo>
                  <a:pt x="0" y="0"/>
                </a:moveTo>
                <a:lnTo>
                  <a:pt x="866279" y="0"/>
                </a:lnTo>
                <a:lnTo>
                  <a:pt x="866279" y="605799"/>
                </a:lnTo>
                <a:lnTo>
                  <a:pt x="0" y="605799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5795517" y="4338885"/>
            <a:ext cx="960120" cy="1297819"/>
          </a:xfrm>
          <a:custGeom>
            <a:avLst/>
            <a:gdLst/>
            <a:ahLst/>
            <a:cxnLst/>
            <a:rect r="r" b="b" t="t" l="l"/>
            <a:pathLst>
              <a:path h="1297819" w="960120">
                <a:moveTo>
                  <a:pt x="0" y="0"/>
                </a:moveTo>
                <a:lnTo>
                  <a:pt x="960120" y="0"/>
                </a:lnTo>
                <a:lnTo>
                  <a:pt x="960120" y="1297819"/>
                </a:lnTo>
                <a:lnTo>
                  <a:pt x="0" y="1297819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5854524" y="7966634"/>
            <a:ext cx="901322" cy="1166498"/>
          </a:xfrm>
          <a:custGeom>
            <a:avLst/>
            <a:gdLst/>
            <a:ahLst/>
            <a:cxnLst/>
            <a:rect r="r" b="b" t="t" l="l"/>
            <a:pathLst>
              <a:path h="1166498" w="901322">
                <a:moveTo>
                  <a:pt x="0" y="0"/>
                </a:moveTo>
                <a:lnTo>
                  <a:pt x="901323" y="0"/>
                </a:lnTo>
                <a:lnTo>
                  <a:pt x="901323" y="1166498"/>
                </a:lnTo>
                <a:lnTo>
                  <a:pt x="0" y="1166498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15539780" y="6709429"/>
            <a:ext cx="104813" cy="104813"/>
            <a:chOff x="0" y="0"/>
            <a:chExt cx="139751" cy="13975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9700" cy="139700"/>
            </a:xfrm>
            <a:custGeom>
              <a:avLst/>
              <a:gdLst/>
              <a:ahLst/>
              <a:cxnLst/>
              <a:rect r="r" b="b" t="t" l="l"/>
              <a:pathLst>
                <a:path h="139700" w="139700">
                  <a:moveTo>
                    <a:pt x="0" y="0"/>
                  </a:moveTo>
                  <a:lnTo>
                    <a:pt x="139700" y="0"/>
                  </a:lnTo>
                  <a:lnTo>
                    <a:pt x="139700" y="139700"/>
                  </a:lnTo>
                  <a:lnTo>
                    <a:pt x="0" y="139700"/>
                  </a:lnTo>
                  <a:close/>
                </a:path>
              </a:pathLst>
            </a:custGeom>
            <a:blipFill>
              <a:blip r:embed="rId42"/>
              <a:stretch>
                <a:fillRect l="0" t="0" r="-36" b="-36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5793907" y="7388352"/>
            <a:ext cx="104813" cy="104813"/>
            <a:chOff x="0" y="0"/>
            <a:chExt cx="139751" cy="13975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9700" cy="139700"/>
            </a:xfrm>
            <a:custGeom>
              <a:avLst/>
              <a:gdLst/>
              <a:ahLst/>
              <a:cxnLst/>
              <a:rect r="r" b="b" t="t" l="l"/>
              <a:pathLst>
                <a:path h="139700" w="139700">
                  <a:moveTo>
                    <a:pt x="0" y="0"/>
                  </a:moveTo>
                  <a:lnTo>
                    <a:pt x="139700" y="0"/>
                  </a:lnTo>
                  <a:lnTo>
                    <a:pt x="139700" y="139700"/>
                  </a:lnTo>
                  <a:lnTo>
                    <a:pt x="0" y="139700"/>
                  </a:lnTo>
                  <a:close/>
                </a:path>
              </a:pathLst>
            </a:custGeom>
            <a:blipFill>
              <a:blip r:embed="rId31"/>
              <a:stretch>
                <a:fillRect l="0" t="0" r="-36" b="-35"/>
              </a:stretch>
            </a:blip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5162540" y="-30347"/>
            <a:ext cx="6955165" cy="781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39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FEASIBILITY AND VIABILITY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09150" y="936546"/>
            <a:ext cx="1565358" cy="489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400" b="true">
                <a:solidFill>
                  <a:srgbClr val="1700AC"/>
                </a:solidFill>
                <a:latin typeface="Arial Bold"/>
                <a:ea typeface="Arial Bold"/>
                <a:cs typeface="Arial Bold"/>
                <a:sym typeface="Arial Bold"/>
              </a:rPr>
              <a:t>Feasibility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329496" y="936546"/>
            <a:ext cx="1230039" cy="489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400" b="true">
                <a:solidFill>
                  <a:srgbClr val="1700AC"/>
                </a:solidFill>
                <a:latin typeface="Arial Bold"/>
                <a:ea typeface="Arial Bold"/>
                <a:cs typeface="Arial Bold"/>
                <a:sym typeface="Arial Bold"/>
              </a:rPr>
              <a:t>Viability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450899" y="936546"/>
            <a:ext cx="3858863" cy="489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400" b="true">
                <a:solidFill>
                  <a:srgbClr val="1700AC"/>
                </a:solidFill>
                <a:latin typeface="Arial Bold"/>
                <a:ea typeface="Arial Bold"/>
                <a:cs typeface="Arial Bold"/>
                <a:sym typeface="Arial Bold"/>
              </a:rPr>
              <a:t>Practical Implementation 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6504949" y="3351609"/>
            <a:ext cx="90392" cy="42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156812" y="8682185"/>
            <a:ext cx="238696" cy="33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05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159308" y="4411670"/>
            <a:ext cx="238696" cy="33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957398" y="7674216"/>
            <a:ext cx="238696" cy="33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654717" y="6504803"/>
            <a:ext cx="238696" cy="33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911730" y="7633411"/>
            <a:ext cx="238696" cy="33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5118775" y="5405933"/>
            <a:ext cx="238696" cy="33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5943259" y="4350106"/>
            <a:ext cx="238696" cy="33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5981426" y="8620620"/>
            <a:ext cx="238696" cy="33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05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75986" y="6719668"/>
            <a:ext cx="1819523" cy="929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Potential Challenges and Risks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5891034" y="6719668"/>
            <a:ext cx="1839801" cy="929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Strategies For Overcoming Challenges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982614" y="5417654"/>
            <a:ext cx="426962" cy="31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0"/>
              </a:lnSpc>
            </a:pPr>
            <a:r>
              <a:rPr lang="en-US" sz="1684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3375462" y="6617445"/>
            <a:ext cx="630475" cy="266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6"/>
              </a:lnSpc>
            </a:pPr>
            <a:r>
              <a:rPr lang="en-US" sz="1456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09150" y="1436313"/>
            <a:ext cx="6193460" cy="1525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Builds on proven open Indian-language models</a:t>
            </a:r>
          </a:p>
          <a:p>
            <a:pPr algn="l">
              <a:lnSpc>
                <a:spcPts val="3000"/>
              </a:lnSpc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(AI4Bharat, MuRIL) — no ground-up training </a:t>
            </a:r>
          </a:p>
          <a:p>
            <a:pPr algn="l">
              <a:lnSpc>
                <a:spcPts val="2998"/>
              </a:lnSpc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needed. Rule-based safety engine is </a:t>
            </a:r>
          </a:p>
          <a:p>
            <a:pPr algn="l">
              <a:lnSpc>
                <a:spcPts val="3000"/>
              </a:lnSpc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deterministic and testable.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6377016" y="1436313"/>
            <a:ext cx="5407724" cy="1957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clear four-band priority system </a:t>
            </a:r>
          </a:p>
          <a:p>
            <a:pPr algn="l">
              <a:lnSpc>
                <a:spcPts val="3000"/>
              </a:lnSpc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operators can act on at a glance —</a:t>
            </a:r>
          </a:p>
          <a:p>
            <a:pPr algn="l">
              <a:lnSpc>
                <a:spcPts val="3000"/>
              </a:lnSpc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fits into NHAA's existing 14566 / portal flow</a:t>
            </a:r>
          </a:p>
          <a:p>
            <a:pPr algn="l">
              <a:lnSpc>
                <a:spcPts val="3000"/>
              </a:lnSpc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without replacing it.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2450899" y="1436313"/>
            <a:ext cx="5843445" cy="1957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Hackathon build simulates the 14566 integration</a:t>
            </a:r>
          </a:p>
          <a:p>
            <a:pPr algn="l">
              <a:lnSpc>
                <a:spcPts val="3000"/>
              </a:lnSpc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(mock call stream); an authorised telephony </a:t>
            </a:r>
          </a:p>
          <a:p>
            <a:pPr algn="l">
              <a:lnSpc>
                <a:spcPts val="3000"/>
              </a:lnSpc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integration is the honest, stated next step for</a:t>
            </a:r>
          </a:p>
          <a:p>
            <a:pPr algn="l">
              <a:lnSpc>
                <a:spcPts val="3000"/>
              </a:lnSpc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production.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707834" y="4050163"/>
            <a:ext cx="4530900" cy="923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Proxy data used only for pretraining /</a:t>
            </a:r>
          </a:p>
          <a:p>
            <a:pPr algn="l">
              <a:lnSpc>
                <a:spcPts val="2300"/>
              </a:lnSpc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proof-of-concept; honest about limits — </a:t>
            </a:r>
          </a:p>
          <a:p>
            <a:pPr algn="l">
              <a:lnSpc>
                <a:spcPts val="2300"/>
              </a:lnSpc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 deployment needs consented clinical data.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3747392" y="5212118"/>
            <a:ext cx="4014245" cy="876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MuRIL / IndicBERT are built for code-mixed </a:t>
            </a:r>
          </a:p>
          <a:p>
            <a:pPr algn="l">
              <a:lnSpc>
                <a:spcPts val="2199"/>
              </a:lnSpc>
            </a:pP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Indian text; ASR defaults to </a:t>
            </a:r>
          </a:p>
          <a:p>
            <a:pPr algn="l">
              <a:lnSpc>
                <a:spcPts val="2199"/>
              </a:lnSpc>
            </a:pP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Indian-language-first models.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3928196" y="6396095"/>
            <a:ext cx="4755480" cy="689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Fusion re-weights dynamically</a:t>
            </a:r>
          </a:p>
          <a:p>
            <a:pPr algn="l">
              <a:lnSpc>
                <a:spcPts val="250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instead of treating a missing signal as neutral.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3673469" y="7468314"/>
            <a:ext cx="4542358" cy="65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Rule-based engine chosen over an </a:t>
            </a:r>
          </a:p>
          <a:p>
            <a:pPr algn="l">
              <a:lnSpc>
                <a:spcPts val="2399"/>
              </a:lnSpc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 specifically for predictable, testable recall.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915564" y="8303838"/>
            <a:ext cx="4188524" cy="95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Explicitly scoped as a hackathon prototype </a:t>
            </a:r>
          </a:p>
          <a:p>
            <a:pPr algn="l">
              <a:lnSpc>
                <a:spcPts val="2399"/>
              </a:lnSpc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needing clinical / legal / security review </a:t>
            </a:r>
          </a:p>
          <a:p>
            <a:pPr algn="l">
              <a:lnSpc>
                <a:spcPts val="2399"/>
              </a:lnSpc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before reaching a real caller.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1284468" y="4077995"/>
            <a:ext cx="4696244" cy="95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Proxy data used only for pretraining / </a:t>
            </a:r>
          </a:p>
          <a:p>
            <a:pPr algn="l">
              <a:lnSpc>
                <a:spcPts val="2399"/>
              </a:lnSpc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proof-of-concept; honest about limits — </a:t>
            </a:r>
          </a:p>
          <a:p>
            <a:pPr algn="l">
              <a:lnSpc>
                <a:spcPts val="2399"/>
              </a:lnSpc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 deployment needs consented clinical data.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381439" y="5335514"/>
            <a:ext cx="5839101" cy="71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MuRIL / IndicBERT are built for code-mixed Indian text; </a:t>
            </a:r>
          </a:p>
          <a:p>
            <a:pPr algn="l">
              <a:lnSpc>
                <a:spcPts val="2599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ASR defaults to Indian-language-first models.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9563805" y="6315351"/>
            <a:ext cx="4871047" cy="71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Fusion re-weights dynamically</a:t>
            </a:r>
          </a:p>
          <a:p>
            <a:pPr algn="ctr">
              <a:lnSpc>
                <a:spcPts val="2599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instead of treating a missing signal as neutral.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0343712" y="7485431"/>
            <a:ext cx="4286679" cy="71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Rule-based engine chosen over an LLM specifically for predictable, testable recall.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9857984" y="8492728"/>
            <a:ext cx="6223006" cy="71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Explicitly scoped as a hackathon prototype needing </a:t>
            </a:r>
          </a:p>
          <a:p>
            <a:pPr algn="l">
              <a:lnSpc>
                <a:spcPts val="2599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clinical / legal / security review before reaching a real caller.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37090" y="-13964"/>
            <a:ext cx="1090489" cy="964187"/>
            <a:chOff x="0" y="0"/>
            <a:chExt cx="1453985" cy="1285583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454023" cy="1285621"/>
            </a:xfrm>
            <a:custGeom>
              <a:avLst/>
              <a:gdLst/>
              <a:ahLst/>
              <a:cxnLst/>
              <a:rect r="r" b="b" t="t" l="l"/>
              <a:pathLst>
                <a:path h="1285621" w="1454023">
                  <a:moveTo>
                    <a:pt x="0" y="0"/>
                  </a:moveTo>
                  <a:lnTo>
                    <a:pt x="1454023" y="0"/>
                  </a:lnTo>
                  <a:lnTo>
                    <a:pt x="1454023" y="1285621"/>
                  </a:lnTo>
                  <a:lnTo>
                    <a:pt x="0" y="1285621"/>
                  </a:lnTo>
                  <a:close/>
                </a:path>
              </a:pathLst>
            </a:custGeom>
            <a:blipFill>
              <a:blip r:embed="rId43"/>
              <a:stretch>
                <a:fillRect l="0" t="-6549" r="2" b="-6546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5839951" y="-57722"/>
            <a:ext cx="2214553" cy="1051703"/>
            <a:chOff x="0" y="0"/>
            <a:chExt cx="2952737" cy="140227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952750" cy="1402207"/>
            </a:xfrm>
            <a:custGeom>
              <a:avLst/>
              <a:gdLst/>
              <a:ahLst/>
              <a:cxnLst/>
              <a:rect r="r" b="b" t="t" l="l"/>
              <a:pathLst>
                <a:path h="1402207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1402207"/>
                  </a:lnTo>
                  <a:lnTo>
                    <a:pt x="0" y="1402207"/>
                  </a:lnTo>
                  <a:close/>
                </a:path>
              </a:pathLst>
            </a:custGeom>
            <a:blipFill>
              <a:blip r:embed="rId44"/>
              <a:stretch>
                <a:fillRect l="-312" t="0" r="-312" b="-4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-6353" y="9706737"/>
            <a:ext cx="18300573" cy="586616"/>
            <a:chOff x="0" y="0"/>
            <a:chExt cx="24400764" cy="782155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4400763" cy="782193"/>
            </a:xfrm>
            <a:custGeom>
              <a:avLst/>
              <a:gdLst/>
              <a:ahLst/>
              <a:cxnLst/>
              <a:rect r="r" b="b" t="t" l="l"/>
              <a:pathLst>
                <a:path h="782193" w="24400763">
                  <a:moveTo>
                    <a:pt x="0" y="0"/>
                  </a:moveTo>
                  <a:lnTo>
                    <a:pt x="24400763" y="0"/>
                  </a:lnTo>
                  <a:lnTo>
                    <a:pt x="24400763" y="782193"/>
                  </a:lnTo>
                  <a:lnTo>
                    <a:pt x="0" y="782193"/>
                  </a:lnTo>
                  <a:close/>
                </a:path>
              </a:pathLst>
            </a:custGeom>
            <a:solidFill>
              <a:srgbClr val="006FBF"/>
            </a:solidFill>
          </p:spPr>
        </p:sp>
      </p:grpSp>
      <p:sp>
        <p:nvSpPr>
          <p:cNvPr name="TextBox 83" id="83"/>
          <p:cNvSpPr txBox="true"/>
          <p:nvPr/>
        </p:nvSpPr>
        <p:spPr>
          <a:xfrm rot="0">
            <a:off x="17214914" y="9733759"/>
            <a:ext cx="139875" cy="37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7424861" y="9740503"/>
            <a:ext cx="4445756" cy="37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1800" spc="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@SIH Idea Submission—NeuroNex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06" y="8945375"/>
            <a:ext cx="18287876" cy="1341634"/>
          </a:xfrm>
          <a:custGeom>
            <a:avLst/>
            <a:gdLst/>
            <a:ahLst/>
            <a:cxnLst/>
            <a:rect r="r" b="b" t="t" l="l"/>
            <a:pathLst>
              <a:path h="1341634" w="18287876">
                <a:moveTo>
                  <a:pt x="0" y="0"/>
                </a:moveTo>
                <a:lnTo>
                  <a:pt x="18287876" y="0"/>
                </a:lnTo>
                <a:lnTo>
                  <a:pt x="18287876" y="1341635"/>
                </a:lnTo>
                <a:lnTo>
                  <a:pt x="0" y="13416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446346" y="3966353"/>
            <a:ext cx="3012462" cy="3012834"/>
            <a:chOff x="0" y="0"/>
            <a:chExt cx="4016616" cy="40171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16629" cy="4017137"/>
            </a:xfrm>
            <a:custGeom>
              <a:avLst/>
              <a:gdLst/>
              <a:ahLst/>
              <a:cxnLst/>
              <a:rect r="r" b="b" t="t" l="l"/>
              <a:pathLst>
                <a:path h="4017137" w="4016629">
                  <a:moveTo>
                    <a:pt x="0" y="0"/>
                  </a:moveTo>
                  <a:lnTo>
                    <a:pt x="4016629" y="0"/>
                  </a:lnTo>
                  <a:lnTo>
                    <a:pt x="4016629" y="4017137"/>
                  </a:lnTo>
                  <a:lnTo>
                    <a:pt x="0" y="4017137"/>
                  </a:lnTo>
                  <a:close/>
                </a:path>
              </a:pathLst>
            </a:custGeom>
            <a:blipFill>
              <a:blip r:embed="rId4"/>
              <a:stretch>
                <a:fillRect l="-6" t="0" r="-6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853208" y="3936730"/>
            <a:ext cx="198920" cy="198920"/>
            <a:chOff x="0" y="0"/>
            <a:chExt cx="265227" cy="2652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5176" cy="265176"/>
            </a:xfrm>
            <a:custGeom>
              <a:avLst/>
              <a:gdLst/>
              <a:ahLst/>
              <a:cxnLst/>
              <a:rect r="r" b="b" t="t" l="l"/>
              <a:pathLst>
                <a:path h="265176" w="265176">
                  <a:moveTo>
                    <a:pt x="0" y="0"/>
                  </a:moveTo>
                  <a:lnTo>
                    <a:pt x="265176" y="0"/>
                  </a:lnTo>
                  <a:lnTo>
                    <a:pt x="265176" y="265176"/>
                  </a:lnTo>
                  <a:lnTo>
                    <a:pt x="0" y="265176"/>
                  </a:lnTo>
                  <a:close/>
                </a:path>
              </a:pathLst>
            </a:custGeom>
            <a:blipFill>
              <a:blip r:embed="rId5"/>
              <a:stretch>
                <a:fillRect l="0" t="0" r="-19" b="-1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5815108" y="3899383"/>
            <a:ext cx="275092" cy="274330"/>
          </a:xfrm>
          <a:custGeom>
            <a:avLst/>
            <a:gdLst/>
            <a:ahLst/>
            <a:cxnLst/>
            <a:rect r="r" b="b" t="t" l="l"/>
            <a:pathLst>
              <a:path h="274330" w="275092">
                <a:moveTo>
                  <a:pt x="0" y="0"/>
                </a:moveTo>
                <a:lnTo>
                  <a:pt x="275091" y="0"/>
                </a:lnTo>
                <a:lnTo>
                  <a:pt x="275091" y="274329"/>
                </a:lnTo>
                <a:lnTo>
                  <a:pt x="0" y="274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196699" y="4900012"/>
            <a:ext cx="198920" cy="198920"/>
            <a:chOff x="0" y="0"/>
            <a:chExt cx="265227" cy="2652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5176" cy="265176"/>
            </a:xfrm>
            <a:custGeom>
              <a:avLst/>
              <a:gdLst/>
              <a:ahLst/>
              <a:cxnLst/>
              <a:rect r="r" b="b" t="t" l="l"/>
              <a:pathLst>
                <a:path h="265176" w="265176">
                  <a:moveTo>
                    <a:pt x="0" y="0"/>
                  </a:moveTo>
                  <a:lnTo>
                    <a:pt x="265176" y="0"/>
                  </a:lnTo>
                  <a:lnTo>
                    <a:pt x="265176" y="265176"/>
                  </a:lnTo>
                  <a:lnTo>
                    <a:pt x="0" y="265176"/>
                  </a:lnTo>
                  <a:close/>
                </a:path>
              </a:pathLst>
            </a:custGeom>
            <a:blipFill>
              <a:blip r:embed="rId8"/>
              <a:stretch>
                <a:fillRect l="0" t="0" r="-19" b="-19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7158599" y="4862665"/>
            <a:ext cx="275101" cy="274330"/>
          </a:xfrm>
          <a:custGeom>
            <a:avLst/>
            <a:gdLst/>
            <a:ahLst/>
            <a:cxnLst/>
            <a:rect r="r" b="b" t="t" l="l"/>
            <a:pathLst>
              <a:path h="274330" w="275101">
                <a:moveTo>
                  <a:pt x="0" y="0"/>
                </a:moveTo>
                <a:lnTo>
                  <a:pt x="275102" y="0"/>
                </a:lnTo>
                <a:lnTo>
                  <a:pt x="275102" y="274329"/>
                </a:lnTo>
                <a:lnTo>
                  <a:pt x="0" y="274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779704" y="6444034"/>
            <a:ext cx="198920" cy="198920"/>
            <a:chOff x="0" y="0"/>
            <a:chExt cx="265227" cy="2652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5176" cy="265176"/>
            </a:xfrm>
            <a:custGeom>
              <a:avLst/>
              <a:gdLst/>
              <a:ahLst/>
              <a:cxnLst/>
              <a:rect r="r" b="b" t="t" l="l"/>
              <a:pathLst>
                <a:path h="265176" w="265176">
                  <a:moveTo>
                    <a:pt x="0" y="0"/>
                  </a:moveTo>
                  <a:lnTo>
                    <a:pt x="265176" y="0"/>
                  </a:lnTo>
                  <a:lnTo>
                    <a:pt x="265176" y="265176"/>
                  </a:lnTo>
                  <a:lnTo>
                    <a:pt x="0" y="265176"/>
                  </a:lnTo>
                  <a:close/>
                </a:path>
              </a:pathLst>
            </a:custGeom>
            <a:blipFill>
              <a:blip r:embed="rId5"/>
              <a:stretch>
                <a:fillRect l="0" t="0" r="-19" b="-19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6741604" y="6406686"/>
            <a:ext cx="275101" cy="274330"/>
          </a:xfrm>
          <a:custGeom>
            <a:avLst/>
            <a:gdLst/>
            <a:ahLst/>
            <a:cxnLst/>
            <a:rect r="r" b="b" t="t" l="l"/>
            <a:pathLst>
              <a:path h="274330" w="275101">
                <a:moveTo>
                  <a:pt x="0" y="0"/>
                </a:moveTo>
                <a:lnTo>
                  <a:pt x="275102" y="0"/>
                </a:lnTo>
                <a:lnTo>
                  <a:pt x="275102" y="274330"/>
                </a:lnTo>
                <a:lnTo>
                  <a:pt x="0" y="274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507706" y="4900012"/>
            <a:ext cx="198920" cy="198920"/>
            <a:chOff x="0" y="0"/>
            <a:chExt cx="265227" cy="2652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65176" cy="265176"/>
            </a:xfrm>
            <a:custGeom>
              <a:avLst/>
              <a:gdLst/>
              <a:ahLst/>
              <a:cxnLst/>
              <a:rect r="r" b="b" t="t" l="l"/>
              <a:pathLst>
                <a:path h="265176" w="265176">
                  <a:moveTo>
                    <a:pt x="0" y="0"/>
                  </a:moveTo>
                  <a:lnTo>
                    <a:pt x="265176" y="0"/>
                  </a:lnTo>
                  <a:lnTo>
                    <a:pt x="265176" y="265176"/>
                  </a:lnTo>
                  <a:lnTo>
                    <a:pt x="0" y="265176"/>
                  </a:lnTo>
                  <a:close/>
                </a:path>
              </a:pathLst>
            </a:custGeom>
            <a:blipFill>
              <a:blip r:embed="rId5"/>
              <a:stretch>
                <a:fillRect l="0" t="0" r="-19" b="-18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4469597" y="4862665"/>
            <a:ext cx="275092" cy="274330"/>
          </a:xfrm>
          <a:custGeom>
            <a:avLst/>
            <a:gdLst/>
            <a:ahLst/>
            <a:cxnLst/>
            <a:rect r="r" b="b" t="t" l="l"/>
            <a:pathLst>
              <a:path h="274330" w="275092">
                <a:moveTo>
                  <a:pt x="0" y="0"/>
                </a:moveTo>
                <a:lnTo>
                  <a:pt x="275091" y="0"/>
                </a:lnTo>
                <a:lnTo>
                  <a:pt x="275091" y="274329"/>
                </a:lnTo>
                <a:lnTo>
                  <a:pt x="0" y="274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4927397" y="6444034"/>
            <a:ext cx="198920" cy="198920"/>
            <a:chOff x="0" y="0"/>
            <a:chExt cx="265227" cy="2652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65176" cy="265176"/>
            </a:xfrm>
            <a:custGeom>
              <a:avLst/>
              <a:gdLst/>
              <a:ahLst/>
              <a:cxnLst/>
              <a:rect r="r" b="b" t="t" l="l"/>
              <a:pathLst>
                <a:path h="265176" w="265176">
                  <a:moveTo>
                    <a:pt x="0" y="0"/>
                  </a:moveTo>
                  <a:lnTo>
                    <a:pt x="265176" y="0"/>
                  </a:lnTo>
                  <a:lnTo>
                    <a:pt x="265176" y="265176"/>
                  </a:lnTo>
                  <a:lnTo>
                    <a:pt x="0" y="265176"/>
                  </a:lnTo>
                  <a:close/>
                </a:path>
              </a:pathLst>
            </a:custGeom>
            <a:blipFill>
              <a:blip r:embed="rId5"/>
              <a:stretch>
                <a:fillRect l="0" t="0" r="-18" b="-19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35477" y="3003766"/>
            <a:ext cx="3425581" cy="1756543"/>
            <a:chOff x="0" y="0"/>
            <a:chExt cx="4567441" cy="234205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567428" cy="2342007"/>
            </a:xfrm>
            <a:custGeom>
              <a:avLst/>
              <a:gdLst/>
              <a:ahLst/>
              <a:cxnLst/>
              <a:rect r="r" b="b" t="t" l="l"/>
              <a:pathLst>
                <a:path h="2342007" w="4567428">
                  <a:moveTo>
                    <a:pt x="4567174" y="120904"/>
                  </a:moveTo>
                  <a:lnTo>
                    <a:pt x="4559935" y="85979"/>
                  </a:lnTo>
                  <a:lnTo>
                    <a:pt x="4529963" y="41275"/>
                  </a:lnTo>
                  <a:lnTo>
                    <a:pt x="4485640" y="11049"/>
                  </a:lnTo>
                  <a:lnTo>
                    <a:pt x="4431030" y="0"/>
                  </a:lnTo>
                  <a:lnTo>
                    <a:pt x="140208" y="0"/>
                  </a:lnTo>
                  <a:lnTo>
                    <a:pt x="85598" y="11049"/>
                  </a:lnTo>
                  <a:lnTo>
                    <a:pt x="41275" y="41275"/>
                  </a:lnTo>
                  <a:lnTo>
                    <a:pt x="11049" y="85979"/>
                  </a:lnTo>
                  <a:lnTo>
                    <a:pt x="0" y="140716"/>
                  </a:lnTo>
                  <a:lnTo>
                    <a:pt x="0" y="2201291"/>
                  </a:lnTo>
                  <a:lnTo>
                    <a:pt x="11049" y="2256028"/>
                  </a:lnTo>
                  <a:lnTo>
                    <a:pt x="41275" y="2300732"/>
                  </a:lnTo>
                  <a:lnTo>
                    <a:pt x="85725" y="2330958"/>
                  </a:lnTo>
                  <a:lnTo>
                    <a:pt x="140335" y="2342007"/>
                  </a:lnTo>
                  <a:lnTo>
                    <a:pt x="4431030" y="2342007"/>
                  </a:lnTo>
                  <a:lnTo>
                    <a:pt x="4485640" y="2330958"/>
                  </a:lnTo>
                  <a:lnTo>
                    <a:pt x="4530217" y="2300732"/>
                  </a:lnTo>
                  <a:lnTo>
                    <a:pt x="4560189" y="2256028"/>
                  </a:lnTo>
                  <a:lnTo>
                    <a:pt x="4567428" y="2221103"/>
                  </a:lnTo>
                  <a:lnTo>
                    <a:pt x="4567428" y="120904"/>
                  </a:lnTo>
                  <a:close/>
                </a:path>
              </a:pathLst>
            </a:custGeom>
            <a:solidFill>
              <a:srgbClr val="E8ECEC"/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4889297" y="6406686"/>
            <a:ext cx="275082" cy="274330"/>
          </a:xfrm>
          <a:custGeom>
            <a:avLst/>
            <a:gdLst/>
            <a:ahLst/>
            <a:cxnLst/>
            <a:rect r="r" b="b" t="t" l="l"/>
            <a:pathLst>
              <a:path h="274330" w="275082">
                <a:moveTo>
                  <a:pt x="0" y="0"/>
                </a:moveTo>
                <a:lnTo>
                  <a:pt x="275082" y="0"/>
                </a:lnTo>
                <a:lnTo>
                  <a:pt x="275082" y="274330"/>
                </a:lnTo>
                <a:lnTo>
                  <a:pt x="0" y="274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8050873" y="3003766"/>
            <a:ext cx="3410579" cy="1756543"/>
            <a:chOff x="0" y="0"/>
            <a:chExt cx="4547438" cy="234205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547489" cy="2342007"/>
            </a:xfrm>
            <a:custGeom>
              <a:avLst/>
              <a:gdLst/>
              <a:ahLst/>
              <a:cxnLst/>
              <a:rect r="r" b="b" t="t" l="l"/>
              <a:pathLst>
                <a:path h="2342007" w="4547489">
                  <a:moveTo>
                    <a:pt x="4547489" y="140716"/>
                  </a:moveTo>
                  <a:lnTo>
                    <a:pt x="4536567" y="85979"/>
                  </a:lnTo>
                  <a:lnTo>
                    <a:pt x="4506468" y="41275"/>
                  </a:lnTo>
                  <a:lnTo>
                    <a:pt x="4461764" y="11049"/>
                  </a:lnTo>
                  <a:lnTo>
                    <a:pt x="4407281" y="0"/>
                  </a:lnTo>
                  <a:lnTo>
                    <a:pt x="140208" y="0"/>
                  </a:lnTo>
                  <a:lnTo>
                    <a:pt x="85725" y="11049"/>
                  </a:lnTo>
                  <a:lnTo>
                    <a:pt x="41021" y="41275"/>
                  </a:lnTo>
                  <a:lnTo>
                    <a:pt x="10922" y="85979"/>
                  </a:lnTo>
                  <a:lnTo>
                    <a:pt x="0" y="140716"/>
                  </a:lnTo>
                  <a:lnTo>
                    <a:pt x="0" y="2201291"/>
                  </a:lnTo>
                  <a:lnTo>
                    <a:pt x="10922" y="2256028"/>
                  </a:lnTo>
                  <a:lnTo>
                    <a:pt x="41021" y="2300732"/>
                  </a:lnTo>
                  <a:lnTo>
                    <a:pt x="85598" y="2330958"/>
                  </a:lnTo>
                  <a:lnTo>
                    <a:pt x="140081" y="2342007"/>
                  </a:lnTo>
                  <a:lnTo>
                    <a:pt x="4407281" y="2342007"/>
                  </a:lnTo>
                  <a:lnTo>
                    <a:pt x="4461764" y="2330958"/>
                  </a:lnTo>
                  <a:lnTo>
                    <a:pt x="4506341" y="2300732"/>
                  </a:lnTo>
                  <a:lnTo>
                    <a:pt x="4536440" y="2256028"/>
                  </a:lnTo>
                  <a:lnTo>
                    <a:pt x="4547362" y="2201291"/>
                  </a:lnTo>
                  <a:lnTo>
                    <a:pt x="4547362" y="140716"/>
                  </a:lnTo>
                  <a:close/>
                </a:path>
              </a:pathLst>
            </a:custGeom>
            <a:solidFill>
              <a:srgbClr val="E8ECE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35477" y="6140244"/>
            <a:ext cx="3428495" cy="2280161"/>
            <a:chOff x="0" y="0"/>
            <a:chExt cx="4571327" cy="304021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571492" cy="3040253"/>
            </a:xfrm>
            <a:custGeom>
              <a:avLst/>
              <a:gdLst/>
              <a:ahLst/>
              <a:cxnLst/>
              <a:rect r="r" b="b" t="t" l="l"/>
              <a:pathLst>
                <a:path h="3040253" w="4571492">
                  <a:moveTo>
                    <a:pt x="4571365" y="140462"/>
                  </a:moveTo>
                  <a:lnTo>
                    <a:pt x="4560316" y="85852"/>
                  </a:lnTo>
                  <a:lnTo>
                    <a:pt x="4530217" y="41275"/>
                  </a:lnTo>
                  <a:lnTo>
                    <a:pt x="4485640" y="11176"/>
                  </a:lnTo>
                  <a:lnTo>
                    <a:pt x="4431030" y="0"/>
                  </a:lnTo>
                  <a:lnTo>
                    <a:pt x="140335" y="0"/>
                  </a:lnTo>
                  <a:lnTo>
                    <a:pt x="85725" y="11176"/>
                  </a:lnTo>
                  <a:lnTo>
                    <a:pt x="41021" y="41275"/>
                  </a:lnTo>
                  <a:lnTo>
                    <a:pt x="11049" y="85852"/>
                  </a:lnTo>
                  <a:lnTo>
                    <a:pt x="0" y="140462"/>
                  </a:lnTo>
                  <a:lnTo>
                    <a:pt x="0" y="2899791"/>
                  </a:lnTo>
                  <a:lnTo>
                    <a:pt x="11049" y="2954401"/>
                  </a:lnTo>
                  <a:lnTo>
                    <a:pt x="41148" y="2998978"/>
                  </a:lnTo>
                  <a:lnTo>
                    <a:pt x="85852" y="3029077"/>
                  </a:lnTo>
                  <a:lnTo>
                    <a:pt x="140462" y="3040253"/>
                  </a:lnTo>
                  <a:lnTo>
                    <a:pt x="4431030" y="3040253"/>
                  </a:lnTo>
                  <a:lnTo>
                    <a:pt x="4485640" y="3029077"/>
                  </a:lnTo>
                  <a:lnTo>
                    <a:pt x="4530344" y="2998978"/>
                  </a:lnTo>
                  <a:lnTo>
                    <a:pt x="4560443" y="2954401"/>
                  </a:lnTo>
                  <a:lnTo>
                    <a:pt x="4571492" y="2899791"/>
                  </a:lnTo>
                  <a:lnTo>
                    <a:pt x="4571492" y="140462"/>
                  </a:lnTo>
                  <a:close/>
                </a:path>
              </a:pathLst>
            </a:custGeom>
            <a:solidFill>
              <a:srgbClr val="E8ECEC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2832897" y="2623014"/>
            <a:ext cx="965835" cy="828551"/>
          </a:xfrm>
          <a:custGeom>
            <a:avLst/>
            <a:gdLst/>
            <a:ahLst/>
            <a:cxnLst/>
            <a:rect r="r" b="b" t="t" l="l"/>
            <a:pathLst>
              <a:path h="828551" w="965835">
                <a:moveTo>
                  <a:pt x="0" y="0"/>
                </a:moveTo>
                <a:lnTo>
                  <a:pt x="965835" y="0"/>
                </a:lnTo>
                <a:lnTo>
                  <a:pt x="965835" y="828551"/>
                </a:lnTo>
                <a:lnTo>
                  <a:pt x="0" y="8285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8050873" y="6140244"/>
            <a:ext cx="3410579" cy="2280161"/>
            <a:chOff x="0" y="0"/>
            <a:chExt cx="4547438" cy="304021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547489" cy="3040253"/>
            </a:xfrm>
            <a:custGeom>
              <a:avLst/>
              <a:gdLst/>
              <a:ahLst/>
              <a:cxnLst/>
              <a:rect r="r" b="b" t="t" l="l"/>
              <a:pathLst>
                <a:path h="3040253" w="4547489">
                  <a:moveTo>
                    <a:pt x="4547489" y="140462"/>
                  </a:moveTo>
                  <a:lnTo>
                    <a:pt x="4536567" y="85852"/>
                  </a:lnTo>
                  <a:lnTo>
                    <a:pt x="4506468" y="41275"/>
                  </a:lnTo>
                  <a:lnTo>
                    <a:pt x="4461764" y="11176"/>
                  </a:lnTo>
                  <a:lnTo>
                    <a:pt x="4407281" y="0"/>
                  </a:lnTo>
                  <a:lnTo>
                    <a:pt x="140208" y="0"/>
                  </a:lnTo>
                  <a:lnTo>
                    <a:pt x="85725" y="11176"/>
                  </a:lnTo>
                  <a:lnTo>
                    <a:pt x="41021" y="41275"/>
                  </a:lnTo>
                  <a:lnTo>
                    <a:pt x="10922" y="85852"/>
                  </a:lnTo>
                  <a:lnTo>
                    <a:pt x="0" y="140462"/>
                  </a:lnTo>
                  <a:lnTo>
                    <a:pt x="0" y="2899791"/>
                  </a:lnTo>
                  <a:lnTo>
                    <a:pt x="10922" y="2954401"/>
                  </a:lnTo>
                  <a:lnTo>
                    <a:pt x="41021" y="2998978"/>
                  </a:lnTo>
                  <a:lnTo>
                    <a:pt x="85598" y="3029077"/>
                  </a:lnTo>
                  <a:lnTo>
                    <a:pt x="140081" y="3040253"/>
                  </a:lnTo>
                  <a:lnTo>
                    <a:pt x="4407281" y="3040253"/>
                  </a:lnTo>
                  <a:lnTo>
                    <a:pt x="4461764" y="3029077"/>
                  </a:lnTo>
                  <a:lnTo>
                    <a:pt x="4506341" y="2998978"/>
                  </a:lnTo>
                  <a:lnTo>
                    <a:pt x="4536440" y="2954401"/>
                  </a:lnTo>
                  <a:lnTo>
                    <a:pt x="4547362" y="2899791"/>
                  </a:lnTo>
                  <a:lnTo>
                    <a:pt x="4547362" y="140462"/>
                  </a:lnTo>
                  <a:close/>
                </a:path>
              </a:pathLst>
            </a:custGeom>
            <a:solidFill>
              <a:srgbClr val="E8ECEC"/>
            </a:solid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2832897" y="7884043"/>
            <a:ext cx="965835" cy="828427"/>
          </a:xfrm>
          <a:custGeom>
            <a:avLst/>
            <a:gdLst/>
            <a:ahLst/>
            <a:cxnLst/>
            <a:rect r="r" b="b" t="t" l="l"/>
            <a:pathLst>
              <a:path h="828427" w="965835">
                <a:moveTo>
                  <a:pt x="0" y="0"/>
                </a:moveTo>
                <a:lnTo>
                  <a:pt x="965835" y="0"/>
                </a:lnTo>
                <a:lnTo>
                  <a:pt x="965835" y="828427"/>
                </a:lnTo>
                <a:lnTo>
                  <a:pt x="0" y="82842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7924419" y="7883881"/>
            <a:ext cx="966226" cy="828551"/>
          </a:xfrm>
          <a:custGeom>
            <a:avLst/>
            <a:gdLst/>
            <a:ahLst/>
            <a:cxnLst/>
            <a:rect r="r" b="b" t="t" l="l"/>
            <a:pathLst>
              <a:path h="828551" w="966226">
                <a:moveTo>
                  <a:pt x="0" y="0"/>
                </a:moveTo>
                <a:lnTo>
                  <a:pt x="966226" y="0"/>
                </a:lnTo>
                <a:lnTo>
                  <a:pt x="966226" y="828551"/>
                </a:lnTo>
                <a:lnTo>
                  <a:pt x="0" y="82855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7924419" y="2622852"/>
            <a:ext cx="966226" cy="828551"/>
          </a:xfrm>
          <a:custGeom>
            <a:avLst/>
            <a:gdLst/>
            <a:ahLst/>
            <a:cxnLst/>
            <a:rect r="r" b="b" t="t" l="l"/>
            <a:pathLst>
              <a:path h="828551" w="966226">
                <a:moveTo>
                  <a:pt x="0" y="0"/>
                </a:moveTo>
                <a:lnTo>
                  <a:pt x="966226" y="0"/>
                </a:lnTo>
                <a:lnTo>
                  <a:pt x="966226" y="828551"/>
                </a:lnTo>
                <a:lnTo>
                  <a:pt x="0" y="82855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3669573" y="2942492"/>
            <a:ext cx="208340" cy="208340"/>
            <a:chOff x="0" y="0"/>
            <a:chExt cx="277787" cy="27778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77749" cy="277749"/>
            </a:xfrm>
            <a:custGeom>
              <a:avLst/>
              <a:gdLst/>
              <a:ahLst/>
              <a:cxnLst/>
              <a:rect r="r" b="b" t="t" l="l"/>
              <a:pathLst>
                <a:path h="277749" w="277749">
                  <a:moveTo>
                    <a:pt x="0" y="0"/>
                  </a:moveTo>
                  <a:lnTo>
                    <a:pt x="277749" y="0"/>
                  </a:lnTo>
                  <a:lnTo>
                    <a:pt x="277749" y="277749"/>
                  </a:lnTo>
                  <a:lnTo>
                    <a:pt x="0" y="277749"/>
                  </a:lnTo>
                  <a:close/>
                </a:path>
              </a:pathLst>
            </a:custGeom>
            <a:blipFill>
              <a:blip r:embed="rId17"/>
              <a:stretch>
                <a:fillRect l="0" t="0" r="-13" b="-13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3669573" y="8203521"/>
            <a:ext cx="208340" cy="208340"/>
            <a:chOff x="0" y="0"/>
            <a:chExt cx="277787" cy="27778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77749" cy="277749"/>
            </a:xfrm>
            <a:custGeom>
              <a:avLst/>
              <a:gdLst/>
              <a:ahLst/>
              <a:cxnLst/>
              <a:rect r="r" b="b" t="t" l="l"/>
              <a:pathLst>
                <a:path h="277749" w="277749">
                  <a:moveTo>
                    <a:pt x="0" y="0"/>
                  </a:moveTo>
                  <a:lnTo>
                    <a:pt x="277749" y="0"/>
                  </a:lnTo>
                  <a:lnTo>
                    <a:pt x="277749" y="277749"/>
                  </a:lnTo>
                  <a:lnTo>
                    <a:pt x="0" y="277749"/>
                  </a:lnTo>
                  <a:close/>
                </a:path>
              </a:pathLst>
            </a:custGeom>
            <a:blipFill>
              <a:blip r:embed="rId17"/>
              <a:stretch>
                <a:fillRect l="0" t="0" r="-13" b="-13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845209" y="8184480"/>
            <a:ext cx="208350" cy="208350"/>
            <a:chOff x="0" y="0"/>
            <a:chExt cx="277800" cy="277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77749" cy="277749"/>
            </a:xfrm>
            <a:custGeom>
              <a:avLst/>
              <a:gdLst/>
              <a:ahLst/>
              <a:cxnLst/>
              <a:rect r="r" b="b" t="t" l="l"/>
              <a:pathLst>
                <a:path h="277749" w="277749">
                  <a:moveTo>
                    <a:pt x="0" y="0"/>
                  </a:moveTo>
                  <a:lnTo>
                    <a:pt x="277749" y="0"/>
                  </a:lnTo>
                  <a:lnTo>
                    <a:pt x="277749" y="277749"/>
                  </a:lnTo>
                  <a:lnTo>
                    <a:pt x="0" y="277749"/>
                  </a:lnTo>
                  <a:close/>
                </a:path>
              </a:pathLst>
            </a:custGeom>
            <a:blipFill>
              <a:blip r:embed="rId18"/>
              <a:stretch>
                <a:fillRect l="0" t="0" r="-18" b="-18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845209" y="2923451"/>
            <a:ext cx="208350" cy="208350"/>
            <a:chOff x="0" y="0"/>
            <a:chExt cx="277800" cy="277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77749" cy="277749"/>
            </a:xfrm>
            <a:custGeom>
              <a:avLst/>
              <a:gdLst/>
              <a:ahLst/>
              <a:cxnLst/>
              <a:rect r="r" b="b" t="t" l="l"/>
              <a:pathLst>
                <a:path h="277749" w="277749">
                  <a:moveTo>
                    <a:pt x="0" y="0"/>
                  </a:moveTo>
                  <a:lnTo>
                    <a:pt x="277749" y="0"/>
                  </a:lnTo>
                  <a:lnTo>
                    <a:pt x="277749" y="277749"/>
                  </a:lnTo>
                  <a:lnTo>
                    <a:pt x="0" y="277749"/>
                  </a:lnTo>
                  <a:close/>
                </a:path>
              </a:pathLst>
            </a:custGeom>
            <a:blipFill>
              <a:blip r:embed="rId18"/>
              <a:stretch>
                <a:fillRect l="0" t="0" r="-18" b="-18"/>
              </a:stretch>
            </a:blipFill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3854177" y="6532521"/>
            <a:ext cx="1079630" cy="1868815"/>
          </a:xfrm>
          <a:custGeom>
            <a:avLst/>
            <a:gdLst/>
            <a:ahLst/>
            <a:cxnLst/>
            <a:rect r="r" b="b" t="t" l="l"/>
            <a:pathLst>
              <a:path h="1868815" w="1079630">
                <a:moveTo>
                  <a:pt x="0" y="0"/>
                </a:moveTo>
                <a:lnTo>
                  <a:pt x="1079630" y="0"/>
                </a:lnTo>
                <a:lnTo>
                  <a:pt x="1079630" y="1868815"/>
                </a:lnTo>
                <a:lnTo>
                  <a:pt x="0" y="186881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3854177" y="2946664"/>
            <a:ext cx="776735" cy="1959750"/>
          </a:xfrm>
          <a:custGeom>
            <a:avLst/>
            <a:gdLst/>
            <a:ahLst/>
            <a:cxnLst/>
            <a:rect r="r" b="b" t="t" l="l"/>
            <a:pathLst>
              <a:path h="1959750" w="776735">
                <a:moveTo>
                  <a:pt x="0" y="0"/>
                </a:moveTo>
                <a:lnTo>
                  <a:pt x="776735" y="0"/>
                </a:lnTo>
                <a:lnTo>
                  <a:pt x="776735" y="1959749"/>
                </a:lnTo>
                <a:lnTo>
                  <a:pt x="0" y="1959749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7259660" y="2959360"/>
            <a:ext cx="596779" cy="1959750"/>
          </a:xfrm>
          <a:custGeom>
            <a:avLst/>
            <a:gdLst/>
            <a:ahLst/>
            <a:cxnLst/>
            <a:rect r="r" b="b" t="t" l="l"/>
            <a:pathLst>
              <a:path h="1959750" w="596779">
                <a:moveTo>
                  <a:pt x="0" y="0"/>
                </a:moveTo>
                <a:lnTo>
                  <a:pt x="596779" y="0"/>
                </a:lnTo>
                <a:lnTo>
                  <a:pt x="596779" y="1959750"/>
                </a:lnTo>
                <a:lnTo>
                  <a:pt x="0" y="195975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6972300" y="6532388"/>
            <a:ext cx="884053" cy="1868815"/>
          </a:xfrm>
          <a:custGeom>
            <a:avLst/>
            <a:gdLst/>
            <a:ahLst/>
            <a:cxnLst/>
            <a:rect r="r" b="b" t="t" l="l"/>
            <a:pathLst>
              <a:path h="1868815" w="884053">
                <a:moveTo>
                  <a:pt x="0" y="0"/>
                </a:moveTo>
                <a:lnTo>
                  <a:pt x="884053" y="0"/>
                </a:lnTo>
                <a:lnTo>
                  <a:pt x="884053" y="1868814"/>
                </a:lnTo>
                <a:lnTo>
                  <a:pt x="0" y="1868814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8177508" y="7960347"/>
            <a:ext cx="577539" cy="673075"/>
            <a:chOff x="0" y="0"/>
            <a:chExt cx="770052" cy="89743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70001" cy="897382"/>
            </a:xfrm>
            <a:custGeom>
              <a:avLst/>
              <a:gdLst/>
              <a:ahLst/>
              <a:cxnLst/>
              <a:rect r="r" b="b" t="t" l="l"/>
              <a:pathLst>
                <a:path h="897382" w="770001">
                  <a:moveTo>
                    <a:pt x="0" y="0"/>
                  </a:moveTo>
                  <a:lnTo>
                    <a:pt x="770001" y="0"/>
                  </a:lnTo>
                  <a:lnTo>
                    <a:pt x="770001" y="897382"/>
                  </a:lnTo>
                  <a:lnTo>
                    <a:pt x="0" y="897382"/>
                  </a:lnTo>
                  <a:close/>
                </a:path>
              </a:pathLst>
            </a:custGeom>
            <a:blipFill>
              <a:blip r:embed="rId27"/>
              <a:stretch>
                <a:fillRect l="-547" t="0" r="-555" b="-5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5480066" y="6307103"/>
            <a:ext cx="1108081" cy="516865"/>
            <a:chOff x="0" y="0"/>
            <a:chExt cx="1477442" cy="68915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477391" cy="689102"/>
            </a:xfrm>
            <a:custGeom>
              <a:avLst/>
              <a:gdLst/>
              <a:ahLst/>
              <a:cxnLst/>
              <a:rect r="r" b="b" t="t" l="l"/>
              <a:pathLst>
                <a:path h="689102" w="1477391">
                  <a:moveTo>
                    <a:pt x="0" y="0"/>
                  </a:moveTo>
                  <a:lnTo>
                    <a:pt x="1477391" y="0"/>
                  </a:lnTo>
                  <a:lnTo>
                    <a:pt x="1477391" y="689102"/>
                  </a:lnTo>
                  <a:lnTo>
                    <a:pt x="0" y="689102"/>
                  </a:lnTo>
                  <a:close/>
                </a:path>
              </a:pathLst>
            </a:custGeom>
            <a:blipFill>
              <a:blip r:embed="rId28"/>
              <a:stretch>
                <a:fillRect l="-741" t="0" r="-745" b="-7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-19050" y="9195359"/>
            <a:ext cx="2432247" cy="1097985"/>
            <a:chOff x="0" y="0"/>
            <a:chExt cx="3242996" cy="14639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242945" cy="1463929"/>
            </a:xfrm>
            <a:custGeom>
              <a:avLst/>
              <a:gdLst/>
              <a:ahLst/>
              <a:cxnLst/>
              <a:rect r="r" b="b" t="t" l="l"/>
              <a:pathLst>
                <a:path h="1463929" w="3242945">
                  <a:moveTo>
                    <a:pt x="0" y="0"/>
                  </a:moveTo>
                  <a:lnTo>
                    <a:pt x="3242945" y="0"/>
                  </a:lnTo>
                  <a:lnTo>
                    <a:pt x="3242945" y="1463929"/>
                  </a:lnTo>
                  <a:lnTo>
                    <a:pt x="0" y="1463929"/>
                  </a:lnTo>
                  <a:close/>
                </a:path>
              </a:pathLst>
            </a:custGeom>
            <a:blipFill>
              <a:blip r:embed="rId29"/>
              <a:stretch>
                <a:fillRect l="-250" t="0" r="-251" b="-3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694081" y="1055675"/>
            <a:ext cx="168278" cy="7758360"/>
            <a:chOff x="0" y="0"/>
            <a:chExt cx="224371" cy="103444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4409" cy="10344531"/>
            </a:xfrm>
            <a:custGeom>
              <a:avLst/>
              <a:gdLst/>
              <a:ahLst/>
              <a:cxnLst/>
              <a:rect r="r" b="b" t="t" l="l"/>
              <a:pathLst>
                <a:path h="10344531" w="224409">
                  <a:moveTo>
                    <a:pt x="0" y="0"/>
                  </a:moveTo>
                  <a:lnTo>
                    <a:pt x="224409" y="0"/>
                  </a:lnTo>
                  <a:lnTo>
                    <a:pt x="224409" y="10344531"/>
                  </a:lnTo>
                  <a:lnTo>
                    <a:pt x="0" y="10344531"/>
                  </a:lnTo>
                  <a:close/>
                </a:path>
              </a:pathLst>
            </a:custGeom>
            <a:blipFill>
              <a:blip r:embed="rId30"/>
              <a:stretch>
                <a:fillRect l="0" t="-5127" r="16" b="-5127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1774043" y="1116444"/>
            <a:ext cx="6494183" cy="669931"/>
            <a:chOff x="0" y="0"/>
            <a:chExt cx="8658911" cy="89324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658860" cy="893191"/>
            </a:xfrm>
            <a:custGeom>
              <a:avLst/>
              <a:gdLst/>
              <a:ahLst/>
              <a:cxnLst/>
              <a:rect r="r" b="b" t="t" l="l"/>
              <a:pathLst>
                <a:path h="893191" w="8658860">
                  <a:moveTo>
                    <a:pt x="0" y="0"/>
                  </a:moveTo>
                  <a:lnTo>
                    <a:pt x="8658860" y="0"/>
                  </a:lnTo>
                  <a:lnTo>
                    <a:pt x="8658860" y="893191"/>
                  </a:lnTo>
                  <a:lnTo>
                    <a:pt x="0" y="893191"/>
                  </a:lnTo>
                  <a:close/>
                </a:path>
              </a:pathLst>
            </a:custGeom>
            <a:blipFill>
              <a:blip r:embed="rId31"/>
              <a:stretch>
                <a:fillRect l="0" t="-2290" r="0" b="-2296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1775300" y="1875149"/>
            <a:ext cx="4251008" cy="2320919"/>
            <a:chOff x="0" y="0"/>
            <a:chExt cx="5668010" cy="309455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668010" cy="3094609"/>
            </a:xfrm>
            <a:custGeom>
              <a:avLst/>
              <a:gdLst/>
              <a:ahLst/>
              <a:cxnLst/>
              <a:rect r="r" b="b" t="t" l="l"/>
              <a:pathLst>
                <a:path h="3094609" w="5668010">
                  <a:moveTo>
                    <a:pt x="0" y="0"/>
                  </a:moveTo>
                  <a:lnTo>
                    <a:pt x="5668010" y="0"/>
                  </a:lnTo>
                  <a:lnTo>
                    <a:pt x="5668010" y="3094609"/>
                  </a:lnTo>
                  <a:lnTo>
                    <a:pt x="0" y="3094609"/>
                  </a:lnTo>
                  <a:close/>
                </a:path>
              </a:pathLst>
            </a:custGeom>
            <a:blipFill>
              <a:blip r:embed="rId32"/>
              <a:stretch>
                <a:fillRect l="-97" t="0" r="-97" b="1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775300" y="6579946"/>
            <a:ext cx="4251008" cy="2320919"/>
            <a:chOff x="0" y="0"/>
            <a:chExt cx="5668010" cy="309455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668010" cy="3094609"/>
            </a:xfrm>
            <a:custGeom>
              <a:avLst/>
              <a:gdLst/>
              <a:ahLst/>
              <a:cxnLst/>
              <a:rect r="r" b="b" t="t" l="l"/>
              <a:pathLst>
                <a:path h="3094609" w="5668010">
                  <a:moveTo>
                    <a:pt x="0" y="0"/>
                  </a:moveTo>
                  <a:lnTo>
                    <a:pt x="5668010" y="0"/>
                  </a:lnTo>
                  <a:lnTo>
                    <a:pt x="5668010" y="3094609"/>
                  </a:lnTo>
                  <a:lnTo>
                    <a:pt x="0" y="3094609"/>
                  </a:lnTo>
                  <a:close/>
                </a:path>
              </a:pathLst>
            </a:custGeom>
            <a:blipFill>
              <a:blip r:embed="rId33"/>
              <a:stretch>
                <a:fillRect l="-97" t="0" r="-97" b="1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3977109" y="4224166"/>
            <a:ext cx="4251017" cy="2320919"/>
            <a:chOff x="0" y="0"/>
            <a:chExt cx="5668023" cy="309455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668010" cy="3094609"/>
            </a:xfrm>
            <a:custGeom>
              <a:avLst/>
              <a:gdLst/>
              <a:ahLst/>
              <a:cxnLst/>
              <a:rect r="r" b="b" t="t" l="l"/>
              <a:pathLst>
                <a:path h="3094609" w="5668010">
                  <a:moveTo>
                    <a:pt x="0" y="0"/>
                  </a:moveTo>
                  <a:lnTo>
                    <a:pt x="5668010" y="0"/>
                  </a:lnTo>
                  <a:lnTo>
                    <a:pt x="5668010" y="3094609"/>
                  </a:lnTo>
                  <a:lnTo>
                    <a:pt x="0" y="3094609"/>
                  </a:lnTo>
                  <a:close/>
                </a:path>
              </a:pathLst>
            </a:custGeom>
            <a:blipFill>
              <a:blip r:embed="rId34"/>
              <a:stretch>
                <a:fillRect l="-97" t="0" r="-97" b="1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6568090" y="2303116"/>
            <a:ext cx="1020061" cy="1022356"/>
            <a:chOff x="0" y="0"/>
            <a:chExt cx="1360081" cy="136314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360043" cy="1363091"/>
            </a:xfrm>
            <a:custGeom>
              <a:avLst/>
              <a:gdLst/>
              <a:ahLst/>
              <a:cxnLst/>
              <a:rect r="r" b="b" t="t" l="l"/>
              <a:pathLst>
                <a:path h="1363091" w="1360043">
                  <a:moveTo>
                    <a:pt x="0" y="0"/>
                  </a:moveTo>
                  <a:lnTo>
                    <a:pt x="1360043" y="0"/>
                  </a:lnTo>
                  <a:lnTo>
                    <a:pt x="1360043" y="1363091"/>
                  </a:lnTo>
                  <a:lnTo>
                    <a:pt x="0" y="1363091"/>
                  </a:lnTo>
                  <a:close/>
                </a:path>
              </a:pathLst>
            </a:custGeom>
            <a:blipFill>
              <a:blip r:embed="rId35"/>
              <a:stretch>
                <a:fillRect l="-112" t="0" r="-115" b="-3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6067684" y="3424028"/>
            <a:ext cx="755780" cy="525399"/>
            <a:chOff x="0" y="0"/>
            <a:chExt cx="1007707" cy="70053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07745" cy="700532"/>
            </a:xfrm>
            <a:custGeom>
              <a:avLst/>
              <a:gdLst/>
              <a:ahLst/>
              <a:cxnLst/>
              <a:rect r="r" b="b" t="t" l="l"/>
              <a:pathLst>
                <a:path h="700532" w="1007745">
                  <a:moveTo>
                    <a:pt x="425577" y="700532"/>
                  </a:moveTo>
                  <a:lnTo>
                    <a:pt x="0" y="350393"/>
                  </a:lnTo>
                  <a:lnTo>
                    <a:pt x="425577" y="0"/>
                  </a:lnTo>
                  <a:lnTo>
                    <a:pt x="425577" y="214249"/>
                  </a:lnTo>
                  <a:lnTo>
                    <a:pt x="1007745" y="214249"/>
                  </a:lnTo>
                  <a:lnTo>
                    <a:pt x="1007745" y="486283"/>
                  </a:lnTo>
                  <a:lnTo>
                    <a:pt x="425577" y="486283"/>
                  </a:lnTo>
                  <a:lnTo>
                    <a:pt x="425577" y="70053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6096259" y="7586405"/>
            <a:ext cx="755780" cy="525399"/>
            <a:chOff x="0" y="0"/>
            <a:chExt cx="1007707" cy="70053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07745" cy="700532"/>
            </a:xfrm>
            <a:custGeom>
              <a:avLst/>
              <a:gdLst/>
              <a:ahLst/>
              <a:cxnLst/>
              <a:rect r="r" b="b" t="t" l="l"/>
              <a:pathLst>
                <a:path h="700532" w="1007745">
                  <a:moveTo>
                    <a:pt x="425577" y="700532"/>
                  </a:moveTo>
                  <a:lnTo>
                    <a:pt x="0" y="350393"/>
                  </a:lnTo>
                  <a:lnTo>
                    <a:pt x="425577" y="0"/>
                  </a:lnTo>
                  <a:lnTo>
                    <a:pt x="425577" y="214249"/>
                  </a:lnTo>
                  <a:lnTo>
                    <a:pt x="1007745" y="214249"/>
                  </a:lnTo>
                  <a:lnTo>
                    <a:pt x="1007745" y="486283"/>
                  </a:lnTo>
                  <a:lnTo>
                    <a:pt x="425577" y="486283"/>
                  </a:lnTo>
                  <a:lnTo>
                    <a:pt x="425577" y="70053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2839555" y="2682573"/>
            <a:ext cx="820083" cy="820083"/>
            <a:chOff x="0" y="0"/>
            <a:chExt cx="1093445" cy="109344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3470" cy="1093470"/>
            </a:xfrm>
            <a:custGeom>
              <a:avLst/>
              <a:gdLst/>
              <a:ahLst/>
              <a:cxnLst/>
              <a:rect r="r" b="b" t="t" l="l"/>
              <a:pathLst>
                <a:path h="1093470" w="1093470">
                  <a:moveTo>
                    <a:pt x="0" y="546735"/>
                  </a:moveTo>
                  <a:cubicBezTo>
                    <a:pt x="0" y="244729"/>
                    <a:pt x="244729" y="0"/>
                    <a:pt x="546735" y="0"/>
                  </a:cubicBezTo>
                  <a:cubicBezTo>
                    <a:pt x="848741" y="0"/>
                    <a:pt x="1093470" y="244729"/>
                    <a:pt x="1093470" y="546735"/>
                  </a:cubicBezTo>
                  <a:cubicBezTo>
                    <a:pt x="1093470" y="848741"/>
                    <a:pt x="848614" y="1093470"/>
                    <a:pt x="546735" y="1093470"/>
                  </a:cubicBezTo>
                  <a:cubicBezTo>
                    <a:pt x="244856" y="1093470"/>
                    <a:pt x="0" y="848614"/>
                    <a:pt x="0" y="546735"/>
                  </a:cubicBezTo>
                  <a:close/>
                </a:path>
              </a:pathLst>
            </a:custGeom>
            <a:solidFill>
              <a:srgbClr val="415861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2953293" y="2767717"/>
            <a:ext cx="595636" cy="649796"/>
            <a:chOff x="0" y="0"/>
            <a:chExt cx="794182" cy="86639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94131" cy="866394"/>
            </a:xfrm>
            <a:custGeom>
              <a:avLst/>
              <a:gdLst/>
              <a:ahLst/>
              <a:cxnLst/>
              <a:rect r="r" b="b" t="t" l="l"/>
              <a:pathLst>
                <a:path h="866394" w="794131">
                  <a:moveTo>
                    <a:pt x="0" y="0"/>
                  </a:moveTo>
                  <a:lnTo>
                    <a:pt x="794131" y="0"/>
                  </a:lnTo>
                  <a:lnTo>
                    <a:pt x="794131" y="866394"/>
                  </a:lnTo>
                  <a:lnTo>
                    <a:pt x="0" y="866394"/>
                  </a:lnTo>
                  <a:close/>
                </a:path>
              </a:pathLst>
            </a:custGeom>
            <a:blipFill>
              <a:blip r:embed="rId36"/>
              <a:stretch>
                <a:fillRect l="0" t="-101" r="-6" b="-102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3020758" y="8131931"/>
            <a:ext cx="460696" cy="460696"/>
            <a:chOff x="0" y="0"/>
            <a:chExt cx="614261" cy="61426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14299" cy="614299"/>
            </a:xfrm>
            <a:custGeom>
              <a:avLst/>
              <a:gdLst/>
              <a:ahLst/>
              <a:cxnLst/>
              <a:rect r="r" b="b" t="t" l="l"/>
              <a:pathLst>
                <a:path h="614299" w="614299">
                  <a:moveTo>
                    <a:pt x="0" y="0"/>
                  </a:moveTo>
                  <a:lnTo>
                    <a:pt x="614299" y="0"/>
                  </a:lnTo>
                  <a:lnTo>
                    <a:pt x="614299" y="614299"/>
                  </a:lnTo>
                  <a:lnTo>
                    <a:pt x="0" y="614299"/>
                  </a:lnTo>
                  <a:close/>
                </a:path>
              </a:pathLst>
            </a:custGeom>
            <a:blipFill>
              <a:blip r:embed="rId37"/>
              <a:stretch>
                <a:fillRect l="0" t="0" r="6" b="6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2354477" y="4420248"/>
            <a:ext cx="1385916" cy="1344720"/>
            <a:chOff x="0" y="0"/>
            <a:chExt cx="1847888" cy="179296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847850" cy="1792986"/>
            </a:xfrm>
            <a:custGeom>
              <a:avLst/>
              <a:gdLst/>
              <a:ahLst/>
              <a:cxnLst/>
              <a:rect r="r" b="b" t="t" l="l"/>
              <a:pathLst>
                <a:path h="1792986" w="1847850">
                  <a:moveTo>
                    <a:pt x="0" y="0"/>
                  </a:moveTo>
                  <a:lnTo>
                    <a:pt x="1847850" y="0"/>
                  </a:lnTo>
                  <a:lnTo>
                    <a:pt x="1847850" y="1792986"/>
                  </a:lnTo>
                  <a:lnTo>
                    <a:pt x="0" y="1792986"/>
                  </a:lnTo>
                  <a:close/>
                </a:path>
              </a:pathLst>
            </a:custGeom>
            <a:blipFill>
              <a:blip r:embed="rId38"/>
              <a:stretch>
                <a:fillRect l="0" t="-16" r="-2" b="-14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6972636" y="6753701"/>
            <a:ext cx="1194311" cy="1462526"/>
            <a:chOff x="0" y="0"/>
            <a:chExt cx="1592415" cy="195003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592453" cy="1950085"/>
            </a:xfrm>
            <a:custGeom>
              <a:avLst/>
              <a:gdLst/>
              <a:ahLst/>
              <a:cxnLst/>
              <a:rect r="r" b="b" t="t" l="l"/>
              <a:pathLst>
                <a:path h="1950085" w="1592453">
                  <a:moveTo>
                    <a:pt x="0" y="0"/>
                  </a:moveTo>
                  <a:lnTo>
                    <a:pt x="1592453" y="0"/>
                  </a:lnTo>
                  <a:lnTo>
                    <a:pt x="1592453" y="1950085"/>
                  </a:lnTo>
                  <a:lnTo>
                    <a:pt x="0" y="1950085"/>
                  </a:lnTo>
                  <a:close/>
                </a:path>
              </a:pathLst>
            </a:custGeom>
            <a:blipFill>
              <a:blip r:embed="rId39"/>
              <a:stretch>
                <a:fillRect l="0" t="-161" r="2" b="-158"/>
              </a:stretch>
            </a:blipFill>
          </p:spPr>
        </p:sp>
      </p:grpSp>
      <p:sp>
        <p:nvSpPr>
          <p:cNvPr name="TextBox 76" id="76"/>
          <p:cNvSpPr txBox="true"/>
          <p:nvPr/>
        </p:nvSpPr>
        <p:spPr>
          <a:xfrm rot="0">
            <a:off x="17214914" y="9733759"/>
            <a:ext cx="139875" cy="37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8193272" y="2682573"/>
            <a:ext cx="501034" cy="668188"/>
            <a:chOff x="0" y="0"/>
            <a:chExt cx="668045" cy="89091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68020" cy="890905"/>
            </a:xfrm>
            <a:custGeom>
              <a:avLst/>
              <a:gdLst/>
              <a:ahLst/>
              <a:cxnLst/>
              <a:rect r="r" b="b" t="t" l="l"/>
              <a:pathLst>
                <a:path h="890905" w="668020">
                  <a:moveTo>
                    <a:pt x="0" y="0"/>
                  </a:moveTo>
                  <a:lnTo>
                    <a:pt x="668020" y="0"/>
                  </a:lnTo>
                  <a:lnTo>
                    <a:pt x="668020" y="890905"/>
                  </a:lnTo>
                  <a:lnTo>
                    <a:pt x="0" y="890905"/>
                  </a:lnTo>
                  <a:close/>
                </a:path>
              </a:pathLst>
            </a:custGeom>
            <a:blipFill>
              <a:blip r:embed="rId40"/>
              <a:stretch>
                <a:fillRect l="0" t="-325" r="-3" b="-326"/>
              </a:stretch>
            </a:blipFill>
          </p:spPr>
        </p:sp>
      </p:grpSp>
      <p:sp>
        <p:nvSpPr>
          <p:cNvPr name="TextBox 79" id="79"/>
          <p:cNvSpPr txBox="true"/>
          <p:nvPr/>
        </p:nvSpPr>
        <p:spPr>
          <a:xfrm rot="0">
            <a:off x="355254" y="3415503"/>
            <a:ext cx="7032603" cy="115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Fewer people in real danger fall </a:t>
            </a:r>
          </a:p>
          <a:p>
            <a:pPr algn="l">
              <a:lnSpc>
                <a:spcPts val="2199"/>
              </a:lnSpc>
            </a:pP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through the cracks — urgency is </a:t>
            </a:r>
          </a:p>
          <a:p>
            <a:pPr algn="l">
              <a:lnSpc>
                <a:spcPts val="2199"/>
              </a:lnSpc>
            </a:pP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caught at first contact, not buried in </a:t>
            </a:r>
          </a:p>
          <a:p>
            <a:pPr algn="l">
              <a:lnSpc>
                <a:spcPts val="2199"/>
              </a:lnSpc>
            </a:pP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transcript.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27394" y="-49873"/>
            <a:ext cx="1090489" cy="1161507"/>
            <a:chOff x="0" y="0"/>
            <a:chExt cx="1453985" cy="154867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454023" cy="1548638"/>
            </a:xfrm>
            <a:custGeom>
              <a:avLst/>
              <a:gdLst/>
              <a:ahLst/>
              <a:cxnLst/>
              <a:rect r="r" b="b" t="t" l="l"/>
              <a:pathLst>
                <a:path h="1548638" w="1454023">
                  <a:moveTo>
                    <a:pt x="0" y="0"/>
                  </a:moveTo>
                  <a:lnTo>
                    <a:pt x="1454023" y="0"/>
                  </a:lnTo>
                  <a:lnTo>
                    <a:pt x="1454023" y="1548638"/>
                  </a:lnTo>
                  <a:lnTo>
                    <a:pt x="0" y="1548638"/>
                  </a:lnTo>
                  <a:close/>
                </a:path>
              </a:pathLst>
            </a:custGeom>
            <a:blipFill>
              <a:blip r:embed="rId41"/>
              <a:stretch>
                <a:fillRect l="-3256" t="0" r="-3253" b="-2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5749502" y="-6353"/>
            <a:ext cx="2375183" cy="1127503"/>
            <a:chOff x="0" y="0"/>
            <a:chExt cx="3166910" cy="1503337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166872" cy="1503299"/>
            </a:xfrm>
            <a:custGeom>
              <a:avLst/>
              <a:gdLst/>
              <a:ahLst/>
              <a:cxnLst/>
              <a:rect r="r" b="b" t="t" l="l"/>
              <a:pathLst>
                <a:path h="1503299" w="3166872">
                  <a:moveTo>
                    <a:pt x="0" y="0"/>
                  </a:moveTo>
                  <a:lnTo>
                    <a:pt x="3166872" y="0"/>
                  </a:lnTo>
                  <a:lnTo>
                    <a:pt x="3166872" y="1503299"/>
                  </a:lnTo>
                  <a:lnTo>
                    <a:pt x="0" y="1503299"/>
                  </a:lnTo>
                  <a:close/>
                </a:path>
              </a:pathLst>
            </a:custGeom>
            <a:blipFill>
              <a:blip r:embed="rId42"/>
              <a:stretch>
                <a:fillRect l="-291" t="0" r="-292" b="-2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2193846" y="1224401"/>
            <a:ext cx="8104537" cy="1277779"/>
            <a:chOff x="0" y="0"/>
            <a:chExt cx="10806049" cy="1703705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805922" cy="1703705"/>
            </a:xfrm>
            <a:custGeom>
              <a:avLst/>
              <a:gdLst/>
              <a:ahLst/>
              <a:cxnLst/>
              <a:rect r="r" b="b" t="t" l="l"/>
              <a:pathLst>
                <a:path h="1703705" w="10805922">
                  <a:moveTo>
                    <a:pt x="10805541" y="87884"/>
                  </a:moveTo>
                  <a:lnTo>
                    <a:pt x="10789031" y="62484"/>
                  </a:lnTo>
                  <a:lnTo>
                    <a:pt x="10717530" y="29972"/>
                  </a:lnTo>
                  <a:lnTo>
                    <a:pt x="10612882" y="8001"/>
                  </a:lnTo>
                  <a:lnTo>
                    <a:pt x="10483850" y="0"/>
                  </a:lnTo>
                  <a:lnTo>
                    <a:pt x="331724" y="0"/>
                  </a:lnTo>
                  <a:lnTo>
                    <a:pt x="202565" y="8001"/>
                  </a:lnTo>
                  <a:lnTo>
                    <a:pt x="97536" y="30099"/>
                  </a:lnTo>
                  <a:lnTo>
                    <a:pt x="26035" y="62611"/>
                  </a:lnTo>
                  <a:lnTo>
                    <a:pt x="0" y="102362"/>
                  </a:lnTo>
                  <a:lnTo>
                    <a:pt x="0" y="1601343"/>
                  </a:lnTo>
                  <a:lnTo>
                    <a:pt x="26035" y="1641221"/>
                  </a:lnTo>
                  <a:lnTo>
                    <a:pt x="97536" y="1673733"/>
                  </a:lnTo>
                  <a:lnTo>
                    <a:pt x="202565" y="1695704"/>
                  </a:lnTo>
                  <a:lnTo>
                    <a:pt x="331597" y="1703705"/>
                  </a:lnTo>
                  <a:lnTo>
                    <a:pt x="10483850" y="1703705"/>
                  </a:lnTo>
                  <a:lnTo>
                    <a:pt x="10612882" y="1695704"/>
                  </a:lnTo>
                  <a:lnTo>
                    <a:pt x="10717911" y="1673733"/>
                  </a:lnTo>
                  <a:lnTo>
                    <a:pt x="10789412" y="1641221"/>
                  </a:lnTo>
                  <a:lnTo>
                    <a:pt x="10805922" y="1615821"/>
                  </a:lnTo>
                  <a:lnTo>
                    <a:pt x="10805922" y="87884"/>
                  </a:lnTo>
                  <a:close/>
                </a:path>
              </a:pathLst>
            </a:custGeom>
            <a:solidFill>
              <a:srgbClr val="E8ECEC"/>
            </a:solidFill>
          </p:spPr>
        </p:sp>
      </p:grpSp>
      <p:sp>
        <p:nvSpPr>
          <p:cNvPr name="AutoShape 86" id="86"/>
          <p:cNvSpPr/>
          <p:nvPr/>
        </p:nvSpPr>
        <p:spPr>
          <a:xfrm rot="-5295480">
            <a:off x="5310673" y="3237024"/>
            <a:ext cx="1282903" cy="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87" id="87"/>
          <p:cNvGrpSpPr/>
          <p:nvPr/>
        </p:nvGrpSpPr>
        <p:grpSpPr>
          <a:xfrm rot="0">
            <a:off x="5843788" y="2427380"/>
            <a:ext cx="208350" cy="208350"/>
            <a:chOff x="0" y="0"/>
            <a:chExt cx="277800" cy="2778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77749" cy="277749"/>
            </a:xfrm>
            <a:custGeom>
              <a:avLst/>
              <a:gdLst/>
              <a:ahLst/>
              <a:cxnLst/>
              <a:rect r="r" b="b" t="t" l="l"/>
              <a:pathLst>
                <a:path h="277749" w="277749">
                  <a:moveTo>
                    <a:pt x="0" y="0"/>
                  </a:moveTo>
                  <a:lnTo>
                    <a:pt x="277749" y="0"/>
                  </a:lnTo>
                  <a:lnTo>
                    <a:pt x="277749" y="277749"/>
                  </a:lnTo>
                  <a:lnTo>
                    <a:pt x="0" y="277749"/>
                  </a:lnTo>
                  <a:close/>
                </a:path>
              </a:pathLst>
            </a:custGeom>
            <a:blipFill>
              <a:blip r:embed="rId18"/>
              <a:stretch>
                <a:fillRect l="0" t="0" r="-18" b="-17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2798893" y="1322556"/>
            <a:ext cx="682562" cy="829599"/>
            <a:chOff x="0" y="0"/>
            <a:chExt cx="910082" cy="110613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10082" cy="1106170"/>
            </a:xfrm>
            <a:custGeom>
              <a:avLst/>
              <a:gdLst/>
              <a:ahLst/>
              <a:cxnLst/>
              <a:rect r="r" b="b" t="t" l="l"/>
              <a:pathLst>
                <a:path h="1106170" w="910082">
                  <a:moveTo>
                    <a:pt x="0" y="0"/>
                  </a:moveTo>
                  <a:lnTo>
                    <a:pt x="910082" y="0"/>
                  </a:lnTo>
                  <a:lnTo>
                    <a:pt x="910082" y="1106170"/>
                  </a:lnTo>
                  <a:lnTo>
                    <a:pt x="0" y="1106170"/>
                  </a:lnTo>
                  <a:close/>
                </a:path>
              </a:pathLst>
            </a:custGeom>
            <a:blipFill>
              <a:blip r:embed="rId43"/>
              <a:stretch>
                <a:fillRect l="0" t="-168" r="0" b="-164"/>
              </a:stretch>
            </a:blipFill>
          </p:spPr>
        </p:sp>
      </p:grpSp>
      <p:sp>
        <p:nvSpPr>
          <p:cNvPr name="TextBox 91" id="91"/>
          <p:cNvSpPr txBox="true"/>
          <p:nvPr/>
        </p:nvSpPr>
        <p:spPr>
          <a:xfrm rot="0">
            <a:off x="5898499" y="-30347"/>
            <a:ext cx="5854360" cy="781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39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IMPACT AND BENEFITS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868110" y="9020413"/>
            <a:ext cx="16548916" cy="42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100" spc="4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“AI That Listens. Humans Who Help Human-Centred AI for Safer Support. Turning Signals into Safer Support”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5343201" y="4745812"/>
            <a:ext cx="1138885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Potential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5248656" y="5132794"/>
            <a:ext cx="1547422" cy="922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sz="2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Impact on </a:t>
            </a:r>
            <a:r>
              <a:rPr lang="en-US" sz="2100" b="true">
                <a:solidFill>
                  <a:srgbClr val="1700AC"/>
                </a:solidFill>
                <a:latin typeface="Arial Bold"/>
                <a:ea typeface="Arial Bold"/>
                <a:cs typeface="Arial Bold"/>
                <a:sym typeface="Arial Bold"/>
              </a:rPr>
              <a:t>Targeted Audience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2551483" y="993238"/>
            <a:ext cx="5654250" cy="699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b="true" sz="3500" spc="196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Benefits of the solution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6952452" y="3283620"/>
            <a:ext cx="1120359" cy="60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9"/>
              </a:lnSpc>
            </a:pPr>
            <a:r>
              <a:rPr lang="en-US" sz="3000" spc="4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Social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6246340" y="8187652"/>
            <a:ext cx="2077022" cy="489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Safety-specific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1994671" y="5760172"/>
            <a:ext cx="1982438" cy="59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Operational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385620" y="3023835"/>
            <a:ext cx="2326634" cy="337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9"/>
              </a:lnSpc>
            </a:pPr>
            <a:r>
              <a:rPr lang="en-US" sz="15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Victims / Complainants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356016" y="6224006"/>
            <a:ext cx="2671000" cy="34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7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MoSJE / State Authorities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356016" y="6573069"/>
            <a:ext cx="3019996" cy="1703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transparent, auditable trail</a:t>
            </a:r>
          </a:p>
          <a:p>
            <a:pPr algn="l">
              <a:lnSpc>
                <a:spcPts val="2599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how each case </a:t>
            </a:r>
          </a:p>
          <a:p>
            <a:pPr algn="l">
              <a:lnSpc>
                <a:spcPts val="2599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was prioritised —</a:t>
            </a:r>
          </a:p>
          <a:p>
            <a:pPr algn="l">
              <a:lnSpc>
                <a:spcPts val="2599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supports oversight, not just </a:t>
            </a:r>
          </a:p>
          <a:p>
            <a:pPr algn="l">
              <a:lnSpc>
                <a:spcPts val="2599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automation.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8113547" y="6136729"/>
            <a:ext cx="3215335" cy="382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8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SC/ST Community &amp; Society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8963844" y="3004376"/>
            <a:ext cx="1880940" cy="382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8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NHAA Operators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8308210" y="3404730"/>
            <a:ext cx="3180283" cy="121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9"/>
              </a:lnSpc>
            </a:pP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Evidence-backed triage with </a:t>
            </a:r>
          </a:p>
          <a:p>
            <a:pPr algn="l">
              <a:lnSpc>
                <a:spcPts val="2299"/>
              </a:lnSpc>
            </a:pP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confidence scores, so </a:t>
            </a:r>
          </a:p>
          <a:p>
            <a:pPr algn="l">
              <a:lnSpc>
                <a:spcPts val="2299"/>
              </a:lnSpc>
            </a:pP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limited attention goes to the most </a:t>
            </a:r>
          </a:p>
          <a:p>
            <a:pPr algn="l">
              <a:lnSpc>
                <a:spcPts val="2299"/>
              </a:lnSpc>
            </a:pP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urgent cases first.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2177798" y="2190112"/>
            <a:ext cx="3782520" cy="1757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human stays in the loop </a:t>
            </a:r>
          </a:p>
          <a:p>
            <a:pPr algn="l">
              <a:lnSpc>
                <a:spcPts val="269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throughout — the co-pilot assists,</a:t>
            </a:r>
          </a:p>
          <a:p>
            <a:pPr algn="l">
              <a:lnSpc>
                <a:spcPts val="269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never replaces, and never sends </a:t>
            </a:r>
          </a:p>
          <a:p>
            <a:pPr algn="l">
              <a:lnSpc>
                <a:spcPts val="269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anything without a human's decision.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4232522" y="4687224"/>
            <a:ext cx="3776720" cy="1356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evidence-backed, confidence-</a:t>
            </a:r>
          </a:p>
          <a:p>
            <a:pPr algn="l">
              <a:lnSpc>
                <a:spcPts val="259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aware priority signal beats a black-</a:t>
            </a:r>
          </a:p>
          <a:p>
            <a:pPr algn="l">
              <a:lnSpc>
                <a:spcPts val="259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box label an operator has to just trust.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2207992" y="6949364"/>
            <a:ext cx="3542633" cy="156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live danger / self-harm flag </a:t>
            </a:r>
          </a:p>
          <a:p>
            <a:pPr algn="l">
              <a:lnSpc>
                <a:spcPts val="2399"/>
              </a:lnSpc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always wins over the score, </a:t>
            </a:r>
          </a:p>
          <a:p>
            <a:pPr algn="l">
              <a:lnSpc>
                <a:spcPts val="2399"/>
              </a:lnSpc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architecturally — not a policy that </a:t>
            </a:r>
          </a:p>
          <a:p>
            <a:pPr algn="l">
              <a:lnSpc>
                <a:spcPts val="2399"/>
              </a:lnSpc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be quietly deprioritised under load.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587989" y="1131408"/>
            <a:ext cx="8466953" cy="337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9"/>
              </a:lnSpc>
            </a:pPr>
            <a:r>
              <a:rPr lang="en-US" sz="15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Consistent &amp; Data-Driven Decision Support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3579686" y="1477032"/>
            <a:ext cx="7603627" cy="847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Provides a standardised assessment framework across interactions,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reducing reliance on subjective judgement while keeping the final decision 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the human operator._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7424861" y="9740503"/>
            <a:ext cx="4445756" cy="37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1800" spc="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@SIH Idea Submission—NeuroNex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8233762" y="6532321"/>
            <a:ext cx="2884512" cy="1261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8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Immediate emotional and </a:t>
            </a:r>
          </a:p>
          <a:p>
            <a:pPr algn="l">
              <a:lnSpc>
                <a:spcPts val="2498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psychological support for </a:t>
            </a:r>
          </a:p>
          <a:p>
            <a:pPr algn="l">
              <a:lnSpc>
                <a:spcPts val="2498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SC/ST victims facing caste-</a:t>
            </a:r>
          </a:p>
          <a:p>
            <a:pPr algn="l">
              <a:lnSpc>
                <a:spcPts val="25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based atrocities and trauma.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394" y="-49873"/>
            <a:ext cx="1090489" cy="1161507"/>
            <a:chOff x="0" y="0"/>
            <a:chExt cx="1453985" cy="15486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54023" cy="1548638"/>
            </a:xfrm>
            <a:custGeom>
              <a:avLst/>
              <a:gdLst/>
              <a:ahLst/>
              <a:cxnLst/>
              <a:rect r="r" b="b" t="t" l="l"/>
              <a:pathLst>
                <a:path h="1548638" w="1454023">
                  <a:moveTo>
                    <a:pt x="0" y="0"/>
                  </a:moveTo>
                  <a:lnTo>
                    <a:pt x="1454023" y="0"/>
                  </a:lnTo>
                  <a:lnTo>
                    <a:pt x="1454023" y="1548638"/>
                  </a:lnTo>
                  <a:lnTo>
                    <a:pt x="0" y="1548638"/>
                  </a:lnTo>
                  <a:close/>
                </a:path>
              </a:pathLst>
            </a:custGeom>
            <a:blipFill>
              <a:blip r:embed="rId2"/>
              <a:stretch>
                <a:fillRect l="-3256" t="0" r="-3253" b="-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44809" y="1178300"/>
            <a:ext cx="17970379" cy="8221542"/>
          </a:xfrm>
          <a:custGeom>
            <a:avLst/>
            <a:gdLst/>
            <a:ahLst/>
            <a:cxnLst/>
            <a:rect r="r" b="b" t="t" l="l"/>
            <a:pathLst>
              <a:path h="8221542" w="17970379">
                <a:moveTo>
                  <a:pt x="0" y="0"/>
                </a:moveTo>
                <a:lnTo>
                  <a:pt x="17970379" y="0"/>
                </a:lnTo>
                <a:lnTo>
                  <a:pt x="17970379" y="8221542"/>
                </a:lnTo>
                <a:lnTo>
                  <a:pt x="0" y="8221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749502" y="-6353"/>
            <a:ext cx="2375183" cy="1127503"/>
            <a:chOff x="0" y="0"/>
            <a:chExt cx="3166910" cy="15033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66872" cy="1503299"/>
            </a:xfrm>
            <a:custGeom>
              <a:avLst/>
              <a:gdLst/>
              <a:ahLst/>
              <a:cxnLst/>
              <a:rect r="r" b="b" t="t" l="l"/>
              <a:pathLst>
                <a:path h="1503299" w="3166872">
                  <a:moveTo>
                    <a:pt x="0" y="0"/>
                  </a:moveTo>
                  <a:lnTo>
                    <a:pt x="3166872" y="0"/>
                  </a:lnTo>
                  <a:lnTo>
                    <a:pt x="3166872" y="1503299"/>
                  </a:lnTo>
                  <a:lnTo>
                    <a:pt x="0" y="1503299"/>
                  </a:lnTo>
                  <a:close/>
                </a:path>
              </a:pathLst>
            </a:custGeom>
            <a:blipFill>
              <a:blip r:embed="rId5"/>
              <a:stretch>
                <a:fillRect l="-291" t="0" r="-292" b="-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310420" y="1541536"/>
            <a:ext cx="524456" cy="476479"/>
            <a:chOff x="0" y="0"/>
            <a:chExt cx="699275" cy="6353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9262" cy="635254"/>
            </a:xfrm>
            <a:custGeom>
              <a:avLst/>
              <a:gdLst/>
              <a:ahLst/>
              <a:cxnLst/>
              <a:rect r="r" b="b" t="t" l="l"/>
              <a:pathLst>
                <a:path h="635254" w="699262">
                  <a:moveTo>
                    <a:pt x="0" y="0"/>
                  </a:moveTo>
                  <a:lnTo>
                    <a:pt x="699262" y="0"/>
                  </a:lnTo>
                  <a:lnTo>
                    <a:pt x="699262" y="635254"/>
                  </a:lnTo>
                  <a:lnTo>
                    <a:pt x="0" y="635254"/>
                  </a:lnTo>
                  <a:close/>
                </a:path>
              </a:pathLst>
            </a:custGeom>
            <a:blipFill>
              <a:blip r:embed="rId6"/>
              <a:stretch>
                <a:fillRect l="-125" t="0" r="-127" b="-7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06986" y="2173043"/>
            <a:ext cx="74028" cy="5940904"/>
            <a:chOff x="0" y="0"/>
            <a:chExt cx="98704" cy="79212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8679" cy="7921244"/>
            </a:xfrm>
            <a:custGeom>
              <a:avLst/>
              <a:gdLst/>
              <a:ahLst/>
              <a:cxnLst/>
              <a:rect r="r" b="b" t="t" l="l"/>
              <a:pathLst>
                <a:path h="7921244" w="98679">
                  <a:moveTo>
                    <a:pt x="0" y="0"/>
                  </a:moveTo>
                  <a:lnTo>
                    <a:pt x="98679" y="0"/>
                  </a:lnTo>
                  <a:lnTo>
                    <a:pt x="98679" y="7921244"/>
                  </a:lnTo>
                  <a:lnTo>
                    <a:pt x="0" y="7921244"/>
                  </a:lnTo>
                  <a:close/>
                </a:path>
              </a:pathLst>
            </a:custGeom>
            <a:blipFill>
              <a:blip r:embed="rId7"/>
              <a:stretch>
                <a:fillRect l="0" t="-10225" r="-25" b="-1022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273902" y="1510875"/>
            <a:ext cx="687762" cy="644204"/>
            <a:chOff x="0" y="0"/>
            <a:chExt cx="917016" cy="85893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7067" cy="858901"/>
            </a:xfrm>
            <a:custGeom>
              <a:avLst/>
              <a:gdLst/>
              <a:ahLst/>
              <a:cxnLst/>
              <a:rect r="r" b="b" t="t" l="l"/>
              <a:pathLst>
                <a:path h="858901" w="917067">
                  <a:moveTo>
                    <a:pt x="0" y="0"/>
                  </a:moveTo>
                  <a:lnTo>
                    <a:pt x="917067" y="0"/>
                  </a:lnTo>
                  <a:lnTo>
                    <a:pt x="917067" y="858901"/>
                  </a:lnTo>
                  <a:lnTo>
                    <a:pt x="0" y="858901"/>
                  </a:lnTo>
                  <a:close/>
                </a:path>
              </a:pathLst>
            </a:custGeom>
            <a:blipFill>
              <a:blip r:embed="rId8"/>
              <a:stretch>
                <a:fillRect l="-63" t="0" r="-58" b="-4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982194" y="-30347"/>
            <a:ext cx="7717831" cy="781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39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RESEARCH AND REFERENCES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607" y="1504750"/>
            <a:ext cx="5432479" cy="418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0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FIELD &amp; APPLIED RESEARCH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48599" y="1630880"/>
            <a:ext cx="4637037" cy="366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8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ACADEMIC &amp; GOVERNMENT SOURCES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0420" y="2572407"/>
            <a:ext cx="8703678" cy="3842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9"/>
              </a:lnSpc>
            </a:pPr>
            <a:r>
              <a:rPr lang="en-US" sz="15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Reviewed the existing NHAA (14566) grievance journey end to end — </a:t>
            </a:r>
          </a:p>
          <a:p>
            <a:pPr algn="l">
              <a:lnSpc>
                <a:spcPts val="2299"/>
              </a:lnSpc>
            </a:pPr>
            <a:r>
              <a:rPr lang="en-US" sz="15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Complaint → Registration → Routing → Investigation → Relief → Monitoring — </a:t>
            </a:r>
          </a:p>
          <a:p>
            <a:pPr algn="l">
              <a:lnSpc>
                <a:spcPts val="2299"/>
              </a:lnSpc>
            </a:pPr>
            <a:r>
              <a:rPr lang="en-US" sz="15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to locate where caller distress goes uncaptured at first contact.</a:t>
            </a:r>
          </a:p>
          <a:p>
            <a:pPr algn="l">
              <a:lnSpc>
                <a:spcPts val="2299"/>
              </a:lnSpc>
            </a:pPr>
          </a:p>
          <a:p>
            <a:pPr algn="l">
              <a:lnSpc>
                <a:spcPts val="2299"/>
              </a:lnSpc>
            </a:pPr>
            <a:r>
              <a:rPr lang="en-US" sz="15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Benchmarked proxy emotion/speech datasets (RAVDESS, CREMA-D, GoEmotions) </a:t>
            </a:r>
          </a:p>
          <a:p>
            <a:pPr algn="l">
              <a:lnSpc>
                <a:spcPts val="2299"/>
              </a:lnSpc>
            </a:pPr>
            <a:r>
              <a:rPr lang="en-US" sz="15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for pipeline proof-of-concept only — none represent real Indian atrocity victims, and</a:t>
            </a:r>
          </a:p>
          <a:p>
            <a:pPr algn="l">
              <a:lnSpc>
                <a:spcPts val="2299"/>
              </a:lnSpc>
            </a:pPr>
            <a:r>
              <a:rPr lang="en-US" sz="15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that limit is stated explicitly.</a:t>
            </a:r>
          </a:p>
          <a:p>
            <a:pPr algn="l">
              <a:lnSpc>
                <a:spcPts val="2299"/>
              </a:lnSpc>
            </a:pPr>
          </a:p>
          <a:p>
            <a:pPr algn="l">
              <a:lnSpc>
                <a:spcPts val="2299"/>
              </a:lnSpc>
            </a:pPr>
            <a:r>
              <a:rPr lang="en-US" sz="15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Set component-level validation targets ahead of the pilot — ASR by WER/CER </a:t>
            </a:r>
          </a:p>
          <a:p>
            <a:pPr algn="l">
              <a:lnSpc>
                <a:spcPts val="2299"/>
              </a:lnSpc>
            </a:pPr>
            <a:r>
              <a:rPr lang="en-US" sz="15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per language, text classifier by macro-F1 and recall, safety engine recall on explicit </a:t>
            </a:r>
          </a:p>
          <a:p>
            <a:pPr algn="l">
              <a:lnSpc>
                <a:spcPts val="2299"/>
              </a:lnSpc>
            </a:pPr>
            <a:r>
              <a:rPr lang="en-US" sz="15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danger phrases pushed as close to 100% as achievable, since a missed flag costs </a:t>
            </a:r>
          </a:p>
          <a:p>
            <a:pPr algn="l">
              <a:lnSpc>
                <a:spcPts val="2299"/>
              </a:lnSpc>
            </a:pPr>
            <a:r>
              <a:rPr lang="en-US" sz="15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more than a false alarm.The entire demo runs on a synthetic, consented </a:t>
            </a:r>
          </a:p>
          <a:p>
            <a:pPr algn="l">
              <a:lnSpc>
                <a:spcPts val="2299"/>
              </a:lnSpc>
            </a:pPr>
            <a:r>
              <a:rPr lang="en-US" sz="15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conversation — never a real NHAA case or recording, stated plainly rather than implied.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53657" y="2572407"/>
            <a:ext cx="6924618" cy="3260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7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NHAA Official Portal: </a:t>
            </a:r>
            <a:r>
              <a:rPr lang="en-US" sz="170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9" tooltip="http://nhapoa.gov.in"/>
              </a:rPr>
              <a:t>nhapoa.gov.in</a:t>
            </a:r>
          </a:p>
          <a:p>
            <a:pPr algn="l">
              <a:lnSpc>
                <a:spcPts val="2300"/>
              </a:lnSpc>
            </a:pPr>
            <a:r>
              <a:rPr lang="en-US" sz="17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PIB — NHAA 14566 Launch: </a:t>
            </a:r>
            <a:r>
              <a:rPr lang="en-US" sz="170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10" tooltip="http://pib.gov.in"/>
              </a:rPr>
              <a:t>pib.gov.in</a:t>
            </a: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(PRID 1780864)</a:t>
            </a:r>
          </a:p>
          <a:p>
            <a:pPr algn="l">
              <a:lnSpc>
                <a:spcPts val="2300"/>
              </a:lnSpc>
            </a:pPr>
            <a:r>
              <a:rPr lang="en-US" sz="17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MoSJE Annual Report 2025–26: </a:t>
            </a:r>
            <a:r>
              <a:rPr lang="en-US" sz="170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11" tooltip="http://socialjustice.gov.in"/>
              </a:rPr>
              <a:t>socialjustice.gov.in</a:t>
            </a:r>
          </a:p>
          <a:p>
            <a:pPr algn="l">
              <a:lnSpc>
                <a:spcPts val="2300"/>
              </a:lnSpc>
            </a:pPr>
            <a:r>
              <a:rPr lang="en-US" sz="17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SIH26093 Problem Statement: </a:t>
            </a:r>
            <a:r>
              <a:rPr lang="en-US" sz="170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12" tooltip="https://www.sih.gov.in/sih2026PS"/>
              </a:rPr>
              <a:t>https://www.sih.gov.in/sih2026PS</a:t>
            </a:r>
          </a:p>
          <a:p>
            <a:pPr algn="l">
              <a:lnSpc>
                <a:spcPts val="2300"/>
              </a:lnSpc>
            </a:pPr>
            <a:r>
              <a:rPr lang="en-US" sz="17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Tele-MANAS — DGHS: </a:t>
            </a:r>
            <a:r>
              <a:rPr lang="en-US" sz="170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13" tooltip="http://dghs.mohfw.gov.in"/>
              </a:rPr>
              <a:t>dghs.mohfw.gov.in</a:t>
            </a:r>
          </a:p>
          <a:p>
            <a:pPr algn="l">
              <a:lnSpc>
                <a:spcPts val="2300"/>
              </a:lnSpc>
            </a:pPr>
            <a:r>
              <a:rPr lang="en-US" sz="17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Mental Healthcare Act — NHSRC: </a:t>
            </a:r>
            <a:r>
              <a:rPr lang="en-US" sz="170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14" tooltip="http://qps.nhsrcindia.org"/>
              </a:rPr>
              <a:t>qps.nhsrcindia.org</a:t>
            </a:r>
          </a:p>
          <a:p>
            <a:pPr algn="l">
              <a:lnSpc>
                <a:spcPts val="2300"/>
              </a:lnSpc>
            </a:pPr>
            <a:r>
              <a:rPr lang="en-US" sz="17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DPDP Act 2023 — MeitY: </a:t>
            </a:r>
            <a:r>
              <a:rPr lang="en-US" sz="170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15" tooltip="http://meity.gov.in"/>
              </a:rPr>
              <a:t>meity.gov.in</a:t>
            </a:r>
          </a:p>
          <a:p>
            <a:pPr algn="l">
              <a:lnSpc>
                <a:spcPts val="2300"/>
              </a:lnSpc>
            </a:pPr>
            <a:r>
              <a:rPr lang="en-US" sz="17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AI4Bharat Models: </a:t>
            </a:r>
            <a:r>
              <a:rPr lang="en-US" sz="170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16" tooltip="http://models.ai4bharat.org"/>
              </a:rPr>
              <a:t>models.ai4bharat.org</a:t>
            </a:r>
          </a:p>
          <a:p>
            <a:pPr algn="l">
              <a:lnSpc>
                <a:spcPts val="2300"/>
              </a:lnSpc>
            </a:pPr>
            <a:r>
              <a:rPr lang="en-US" sz="17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RAVDESS Dataset: </a:t>
            </a:r>
            <a:r>
              <a:rPr lang="en-US" sz="170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17" tooltip="http://zenodo.org/records/1188976"/>
              </a:rPr>
              <a:t>zenodo.org/records/1188976</a:t>
            </a:r>
          </a:p>
          <a:p>
            <a:pPr algn="l">
              <a:lnSpc>
                <a:spcPts val="2300"/>
              </a:lnSpc>
            </a:pPr>
            <a:r>
              <a:rPr lang="en-US" sz="17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CREMA-D Dataset: </a:t>
            </a:r>
            <a:r>
              <a:rPr lang="en-US" sz="170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18" tooltip="http://github.com/CheyneyComputerScience/CREMA-D"/>
              </a:rPr>
              <a:t>github.com/CheyneyComputerScience/CREMA-D</a:t>
            </a:r>
          </a:p>
          <a:p>
            <a:pPr algn="l">
              <a:lnSpc>
                <a:spcPts val="2300"/>
              </a:lnSpc>
            </a:pPr>
            <a:r>
              <a:rPr lang="en-US" sz="17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GoEmotions Dataset: </a:t>
            </a:r>
            <a:r>
              <a:rPr lang="en-US" sz="170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19" tooltip="http://github.com/google-research/google-research"/>
              </a:rPr>
              <a:t>github.com/google-research/google-research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-6353" y="9706737"/>
            <a:ext cx="18300573" cy="586616"/>
            <a:chOff x="0" y="0"/>
            <a:chExt cx="24400764" cy="78215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400763" cy="782193"/>
            </a:xfrm>
            <a:custGeom>
              <a:avLst/>
              <a:gdLst/>
              <a:ahLst/>
              <a:cxnLst/>
              <a:rect r="r" b="b" t="t" l="l"/>
              <a:pathLst>
                <a:path h="782193" w="24400763">
                  <a:moveTo>
                    <a:pt x="0" y="0"/>
                  </a:moveTo>
                  <a:lnTo>
                    <a:pt x="24400763" y="0"/>
                  </a:lnTo>
                  <a:lnTo>
                    <a:pt x="24400763" y="782193"/>
                  </a:lnTo>
                  <a:lnTo>
                    <a:pt x="0" y="782193"/>
                  </a:lnTo>
                  <a:close/>
                </a:path>
              </a:pathLst>
            </a:custGeom>
            <a:solidFill>
              <a:srgbClr val="006FB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7214914" y="9733759"/>
            <a:ext cx="139875" cy="37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24861" y="9740503"/>
            <a:ext cx="4445756" cy="37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1800" spc="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@SIH Idea Submission—NeuroNex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DAHUfE4R2YA</dc:identifier>
  <dcterms:modified xsi:type="dcterms:W3CDTF">2011-08-01T06:04:30Z</dcterms:modified>
  <cp:revision>1</cp:revision>
  <dc:title>neuronex_SIH_26093.pptx</dc:title>
</cp:coreProperties>
</file>